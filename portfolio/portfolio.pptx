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6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</p:sldIdLst>
  <p:sldSz cy="6858000" cx="12192000"/>
  <p:notesSz cx="6858000" cy="9144000"/>
  <p:embeddedFontLst>
    <p:embeddedFont>
      <p:font typeface="Nanum Gothic"/>
      <p:regular r:id="rId16"/>
      <p:bold r:id="rId1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8" roundtripDataSignature="AMtx7mjKjXLTBDfdY7oL2jClvpKSFimsr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font" Target="fonts/NanumGothic-bold.fntdata"/><Relationship Id="rId16" Type="http://schemas.openxmlformats.org/officeDocument/2006/relationships/font" Target="fonts/NanumGothic-regular.fntdata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18" Type="http://customschemas.google.com/relationships/presentationmetadata" Target="metadata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3" name="Google Shape;33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>내용 출처: 사용자 제공 자료와 2026년 10월 2일 참여 범위 정정. 미참여 분야는 제외. 약 70~90%는 사용자 관찰에 따른 인식 수준이며 mAP나 통계적 정확도로 해석하지 않음. 회고와 향후 계획은 추천 문안. 덴소 티칭 경험은 본 프로젝트 참여와 구분해 본 자료에서 제외. 디자인 참고: 사용자 첨부 이미지. 도식은 사용자 설명에 따른 개발 과정과 문제 해결 방법을 정리한 개념도. 프로젝트 사진은 사용자 제공 자료.</a:t>
            </a:r>
            <a:endParaRPr/>
          </a:p>
        </p:txBody>
      </p:sp>
      <p:sp>
        <p:nvSpPr>
          <p:cNvPr id="34" name="Google Shape;34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5" name="Google Shape;65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>내용 출처: 사용자 제공 자료와 2026년 10월 2일 참여 범위 정정. 미참여 분야는 제외. 약 70~90%는 사용자 관찰에 따른 인식 수준이며 mAP나 통계적 정확도로 해석하지 않음. 회고와 향후 계획은 추천 문안. 덴소 티칭 경험은 본 프로젝트 참여와 구분해 본 자료에서 제외. 디자인 참고: 사용자 첨부 이미지. 도식은 사용자 설명에 따른 개발 과정과 문제 해결 방법을 정리한 개념도. 프로젝트 사진은 사용자 제공 자료.</a:t>
            </a:r>
            <a:endParaRPr/>
          </a:p>
        </p:txBody>
      </p:sp>
      <p:sp>
        <p:nvSpPr>
          <p:cNvPr id="66" name="Google Shape;66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8" name="Google Shape;118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>내용 출처: 사용자 제공 자료와 2026년 10월 2일 참여 범위 정정. 미참여 분야는 제외. 약 70~90%는 사용자 관찰에 따른 인식 수준이며 mAP나 통계적 정확도로 해석하지 않음. 회고와 향후 계획은 추천 문안. 덴소 티칭 경험은 본 프로젝트 참여와 구분해 본 자료에서 제외. 디자인 참고: 사용자 첨부 이미지. 도식은 사용자 설명에 따른 개발 과정과 문제 해결 방법을 정리한 개념도. 프로젝트 사진은 사용자 제공 자료.</a:t>
            </a:r>
            <a:endParaRPr/>
          </a:p>
        </p:txBody>
      </p:sp>
      <p:sp>
        <p:nvSpPr>
          <p:cNvPr id="119" name="Google Shape;119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7" name="Google Shape;157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>내용 출처: 사용자 제공 자료와 2026년 10월 2일 참여 범위 정정. 미참여 분야는 제외. 약 70~90%는 사용자 관찰에 따른 인식 수준이며 mAP나 통계적 정확도로 해석하지 않음. 회고와 향후 계획은 추천 문안. 덴소 티칭 경험은 본 프로젝트 참여와 구분해 본 자료에서 제외. 디자인 참고: 사용자 첨부 이미지. 도식은 사용자 설명에 따른 개발 과정과 문제 해결 방법을 정리한 개념도. 프로젝트 사진은 사용자 제공 자료.</a:t>
            </a:r>
            <a:endParaRPr/>
          </a:p>
        </p:txBody>
      </p:sp>
      <p:sp>
        <p:nvSpPr>
          <p:cNvPr id="158" name="Google Shape;158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05" name="Google Shape;205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>내용 출처: 사용자 제공 자료와 2026년 10월 2일 참여 범위 정정. 미참여 분야는 제외. 약 70~90%는 사용자 관찰에 따른 인식 수준이며 mAP나 통계적 정확도로 해석하지 않음. 회고와 향후 계획은 추천 문안. 덴소 티칭 경험은 본 프로젝트 참여와 구분해 본 자료에서 제외. 디자인 참고: 사용자 첨부 이미지. 도식은 사용자 설명에 따른 개발 과정과 문제 해결 방법을 정리한 개념도. 프로젝트 사진은 사용자 제공 자료.</a:t>
            </a:r>
            <a:endParaRPr/>
          </a:p>
        </p:txBody>
      </p:sp>
      <p:sp>
        <p:nvSpPr>
          <p:cNvPr id="206" name="Google Shape;206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1" name="Google Shape;241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>내용 출처: 사용자 제공 자료와 2026년 10월 2일 참여 범위 정정. 미참여 분야는 제외. 약 70~90%는 사용자 관찰에 따른 인식 수준이며 mAP나 통계적 정확도로 해석하지 않음. 회고와 향후 계획은 추천 문안. 덴소 티칭 경험은 본 프로젝트 참여와 구분해 본 자료에서 제외. 디자인 참고: 사용자 첨부 이미지. 도식은 사용자 설명에 따른 개발 과정과 문제 해결 방법을 정리한 개념도. 프로젝트 사진은 사용자 제공 자료.</a:t>
            </a:r>
            <a:endParaRPr/>
          </a:p>
        </p:txBody>
      </p:sp>
      <p:sp>
        <p:nvSpPr>
          <p:cNvPr id="242" name="Google Shape;242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83" name="Google Shape;283;p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>내용 출처: 사용자 제공 자료와 2026년 10월 2일 참여 범위 정정. 미참여 분야는 제외. 약 70~90%는 사용자 관찰에 따른 인식 수준이며 mAP나 통계적 정확도로 해석하지 않음. 회고와 향후 계획은 추천 문안. 덴소 티칭 경험은 본 프로젝트 참여와 구분해 본 자료에서 제외. 디자인 참고: 사용자 첨부 이미지. 도식은 사용자 설명에 따른 개발 과정과 문제 해결 방법을 정리한 개념도. 프로젝트 사진은 사용자 제공 자료.</a:t>
            </a:r>
            <a:endParaRPr/>
          </a:p>
        </p:txBody>
      </p:sp>
      <p:sp>
        <p:nvSpPr>
          <p:cNvPr id="284" name="Google Shape;284;p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>내용 출처: 사용자 제공 자료와 2026년 10월 2일 참여 범위 정정. 미참여 분야는 제외. 약 70~90%는 사용자 관찰에 따른 인식 수준이며 mAP나 통계적 정확도로 해석하지 않음. 회고와 향후 계획은 추천 문안. 덴소 티칭 경험은 본 프로젝트 참여와 구분해 본 자료에서 제외. 디자인 참고: 사용자 첨부 이미지. 도식은 사용자 설명에 따른 개발 과정과 문제 해결 방법을 정리한 개념도. 프로젝트 사진은 사용자 제공 자료.</a:t>
            </a:r>
            <a:endParaRPr/>
          </a:p>
        </p:txBody>
      </p:sp>
      <p:sp>
        <p:nvSpPr>
          <p:cNvPr id="329" name="Google Shape;329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66" name="Google Shape;366;p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>내용 출처: 사용자 제공 자료와 2026년 10월 2일 참여 범위 정정. 미참여 분야는 제외. 약 70~90%는 사용자 관찰에 따른 인식 수준이며 mAP나 통계적 정확도로 해석하지 않음. 회고와 향후 계획은 추천 문안. 덴소 티칭 경험은 본 프로젝트 참여와 구분해 본 자료에서 제외. 디자인 참고: 사용자 첨부 이미지. 도식은 사용자 설명에 따른 개발 과정과 문제 해결 방법을 정리한 개념도. 프로젝트 사진은 사용자 제공 자료.</a:t>
            </a:r>
            <a:endParaRPr/>
          </a:p>
        </p:txBody>
      </p:sp>
      <p:sp>
        <p:nvSpPr>
          <p:cNvPr id="367" name="Google Shape;367;p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1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06" name="Google Shape;406;p1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>내용 출처: 사용자 제공 자료와 2026년 10월 2일 참여 범위 정정. 미참여 분야는 제외. 약 70~90%는 사용자 관찰에 따른 인식 수준이며 mAP나 통계적 정확도로 해석하지 않음. 회고와 향후 계획은 추천 문안. 덴소 티칭 경험은 본 프로젝트 참여와 구분해 본 자료에서 제외. 디자인 참고: 사용자 첨부 이미지. 도식은 사용자 설명에 따른 개발 과정과 문제 해결 방법을 정리한 개념도. 프로젝트 사진은 사용자 제공 자료.</a:t>
            </a:r>
            <a:endParaRPr/>
          </a:p>
        </p:txBody>
      </p:sp>
      <p:sp>
        <p:nvSpPr>
          <p:cNvPr id="407" name="Google Shape;407;p1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7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h61538c1e26207c7c_0_3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49" name="Google Shape;449;h61538c1e26207c7c_0_3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50" name="Google Shape;450;h61538c1e26207c7c_0_3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3"/>
          <p:cNvSpPr/>
          <p:nvPr/>
        </p:nvSpPr>
        <p:spPr>
          <a:xfrm>
            <a:off x="5791200" y="2209800"/>
            <a:ext cx="609600" cy="38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13"/>
          <p:cNvSpPr txBox="1"/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  <a:defRPr b="0" i="0" sz="4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" name="Google Shape;14;p13"/>
          <p:cNvSpPr txBox="1"/>
          <p:nvPr>
            <p:ph idx="1" type="subTitle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4"/>
          <p:cNvSpPr/>
          <p:nvPr/>
        </p:nvSpPr>
        <p:spPr>
          <a:xfrm>
            <a:off x="5791200" y="2476500"/>
            <a:ext cx="609600" cy="38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7;p14"/>
          <p:cNvSpPr txBox="1"/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  <a:defRPr b="0" i="0" sz="4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>
  <p:cSld name="Title and Body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15"/>
          <p:cNvSpPr/>
          <p:nvPr/>
        </p:nvSpPr>
        <p:spPr>
          <a:xfrm>
            <a:off x="685800" y="1524000"/>
            <a:ext cx="609600" cy="38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" name="Google Shape;20;p15"/>
          <p:cNvSpPr txBox="1"/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  <a:defRPr b="0" i="0" sz="4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1" name="Google Shape;21;p15"/>
          <p:cNvSpPr txBox="1"/>
          <p:nvPr>
            <p:ph idx="1" type="body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406400" lvl="0" marL="4572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110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">
  <p:cSld name="Title and Two Column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6"/>
          <p:cNvSpPr/>
          <p:nvPr/>
        </p:nvSpPr>
        <p:spPr>
          <a:xfrm>
            <a:off x="685800" y="1524000"/>
            <a:ext cx="609600" cy="38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p16"/>
          <p:cNvSpPr txBox="1"/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  <a:defRPr b="0" i="0" sz="4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16"/>
          <p:cNvSpPr txBox="1"/>
          <p:nvPr>
            <p:ph idx="1" type="body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406400" lvl="0" marL="4572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110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6" name="Google Shape;26;p16"/>
          <p:cNvSpPr txBox="1"/>
          <p:nvPr>
            <p:ph idx="2" type="body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406400" lvl="0" marL="4572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110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One Column">
  <p:cSld name="Title and One Column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7"/>
          <p:cNvSpPr/>
          <p:nvPr/>
        </p:nvSpPr>
        <p:spPr>
          <a:xfrm>
            <a:off x="685800" y="1524000"/>
            <a:ext cx="609600" cy="38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17"/>
          <p:cNvSpPr txBox="1"/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  <a:defRPr b="0" i="0" sz="4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0" name="Google Shape;30;p17"/>
          <p:cNvSpPr txBox="1"/>
          <p:nvPr>
            <p:ph idx="1" type="body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406400" lvl="0" marL="4572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110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3.jpg"/><Relationship Id="rId6" Type="http://schemas.openxmlformats.org/officeDocument/2006/relationships/image" Target="../media/image11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image" Target="../media/image9.png"/><Relationship Id="rId5" Type="http://schemas.openxmlformats.org/officeDocument/2006/relationships/image" Target="../media/image1.png"/><Relationship Id="rId6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png"/><Relationship Id="rId4" Type="http://schemas.openxmlformats.org/officeDocument/2006/relationships/image" Target="../media/image5.png"/><Relationship Id="rId5" Type="http://schemas.openxmlformats.org/officeDocument/2006/relationships/image" Target="../media/image22.png"/><Relationship Id="rId6" Type="http://schemas.openxmlformats.org/officeDocument/2006/relationships/image" Target="../media/image8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8.png"/><Relationship Id="rId4" Type="http://schemas.openxmlformats.org/officeDocument/2006/relationships/image" Target="../media/image12.png"/><Relationship Id="rId5" Type="http://schemas.openxmlformats.org/officeDocument/2006/relationships/image" Target="../media/image23.png"/><Relationship Id="rId6" Type="http://schemas.openxmlformats.org/officeDocument/2006/relationships/image" Target="../media/image14.png"/><Relationship Id="rId7" Type="http://schemas.openxmlformats.org/officeDocument/2006/relationships/image" Target="../media/image20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6.png"/><Relationship Id="rId4" Type="http://schemas.openxmlformats.org/officeDocument/2006/relationships/image" Target="../media/image13.png"/><Relationship Id="rId5" Type="http://schemas.openxmlformats.org/officeDocument/2006/relationships/image" Target="../media/image17.png"/><Relationship Id="rId6" Type="http://schemas.openxmlformats.org/officeDocument/2006/relationships/image" Target="../media/image26.png"/><Relationship Id="rId7" Type="http://schemas.openxmlformats.org/officeDocument/2006/relationships/image" Target="../media/image19.jp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1.png"/><Relationship Id="rId4" Type="http://schemas.openxmlformats.org/officeDocument/2006/relationships/hyperlink" Target="http://drive.google.com/file/d/1l26lw_WxLQFgokS4LEt6TpWgUH9XrSoM/view" TargetMode="External"/><Relationship Id="rId5" Type="http://schemas.openxmlformats.org/officeDocument/2006/relationships/image" Target="../media/image15.png"/><Relationship Id="rId6" Type="http://schemas.openxmlformats.org/officeDocument/2006/relationships/image" Target="../media/image27.png"/><Relationship Id="rId7" Type="http://schemas.openxmlformats.org/officeDocument/2006/relationships/image" Target="../media/image25.png"/><Relationship Id="rId8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"/>
          <p:cNvSpPr/>
          <p:nvPr/>
        </p:nvSpPr>
        <p:spPr>
          <a:xfrm>
            <a:off x="685800" y="257175"/>
            <a:ext cx="10820400" cy="5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75"/>
              <a:buFont typeface="Arial"/>
              <a:buNone/>
            </a:pPr>
            <a:r>
              <a:rPr b="1" i="0" lang="en-US" sz="3075" u="none" cap="none" strike="noStrike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차량 조립 스마트팩토리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1"/>
          <p:cNvSpPr/>
          <p:nvPr/>
        </p:nvSpPr>
        <p:spPr>
          <a:xfrm>
            <a:off x="685800" y="876300"/>
            <a:ext cx="10820400" cy="333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7C7C7C"/>
                </a:solidFill>
                <a:latin typeface="Nanum Gothic"/>
                <a:ea typeface="Nanum Gothic"/>
                <a:cs typeface="Nanum Gothic"/>
                <a:sym typeface="Nanum Gothic"/>
              </a:rPr>
              <a:t>간명욱 · 비전 검사 담당 및 부품 설계 참여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" name="Google Shape;38;p1"/>
          <p:cNvSpPr/>
          <p:nvPr/>
        </p:nvSpPr>
        <p:spPr>
          <a:xfrm>
            <a:off x="914400" y="1438275"/>
            <a:ext cx="10820400" cy="4810200"/>
          </a:xfrm>
          <a:prstGeom prst="roundRect">
            <a:avLst>
              <a:gd fmla="val 2376" name="adj"/>
            </a:avLst>
          </a:prstGeom>
          <a:solidFill>
            <a:srgbClr val="FFFFFF"/>
          </a:solidFill>
          <a:ln cap="flat" cmpd="sng" w="9525">
            <a:solidFill>
              <a:srgbClr val="CDD5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1"/>
          <p:cNvSpPr/>
          <p:nvPr/>
        </p:nvSpPr>
        <p:spPr>
          <a:xfrm>
            <a:off x="1047750" y="1714500"/>
            <a:ext cx="9715500" cy="3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25"/>
              <a:buFont typeface="Arial"/>
              <a:buNone/>
            </a:pPr>
            <a:r>
              <a:rPr b="1" i="0" lang="en-US" sz="1725" u="none" cap="none" strike="noStrike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본인 담당 및 참여 범위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" name="Google Shape;40;p1"/>
          <p:cNvSpPr/>
          <p:nvPr/>
        </p:nvSpPr>
        <p:spPr>
          <a:xfrm>
            <a:off x="1047750" y="2352675"/>
            <a:ext cx="66600" cy="66600"/>
          </a:xfrm>
          <a:prstGeom prst="ellipse">
            <a:avLst/>
          </a:prstGeom>
          <a:solidFill>
            <a:srgbClr val="167D9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" name="Google Shape;41;p1"/>
          <p:cNvSpPr/>
          <p:nvPr/>
        </p:nvSpPr>
        <p:spPr>
          <a:xfrm>
            <a:off x="1219200" y="2276475"/>
            <a:ext cx="62676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5"/>
              <a:buFont typeface="Arial"/>
              <a:buNone/>
            </a:pPr>
            <a:r>
              <a:rPr b="1" i="0" lang="en-US" sz="1575" u="none" cap="none" strike="noStrike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비전 검사 전 과정 담당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1"/>
          <p:cNvSpPr/>
          <p:nvPr/>
        </p:nvSpPr>
        <p:spPr>
          <a:xfrm>
            <a:off x="1381125" y="2571750"/>
            <a:ext cx="6029400" cy="5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5"/>
              <a:buFont typeface="Arial"/>
              <a:buNone/>
            </a:pPr>
            <a:r>
              <a:rPr b="0" i="0" lang="en-US" sz="1425" u="none" cap="none" strike="noStrike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이미지 수집·학습부터 검사 프로그램과 판정 신호 출력까지 수행</a:t>
            </a:r>
            <a:endParaRPr b="0" i="0" sz="1400" u="none" cap="none" strike="noStrike">
              <a:solidFill>
                <a:srgbClr val="12283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" name="Google Shape;43;p1"/>
          <p:cNvSpPr/>
          <p:nvPr/>
        </p:nvSpPr>
        <p:spPr>
          <a:xfrm>
            <a:off x="1047750" y="3333750"/>
            <a:ext cx="66600" cy="66600"/>
          </a:xfrm>
          <a:prstGeom prst="ellipse">
            <a:avLst/>
          </a:prstGeom>
          <a:solidFill>
            <a:srgbClr val="167D9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" name="Google Shape;44;p1"/>
          <p:cNvSpPr/>
          <p:nvPr/>
        </p:nvSpPr>
        <p:spPr>
          <a:xfrm>
            <a:off x="1219200" y="3257550"/>
            <a:ext cx="62676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5"/>
              <a:buFont typeface="Arial"/>
              <a:buNone/>
            </a:pPr>
            <a:r>
              <a:rPr b="1" i="0" lang="en-US" sz="1575" u="none" cap="none" strike="noStrike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SOLIDWORKS 설계와 3D 출력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" name="Google Shape;45;p1"/>
          <p:cNvSpPr/>
          <p:nvPr/>
        </p:nvSpPr>
        <p:spPr>
          <a:xfrm>
            <a:off x="1381125" y="3552825"/>
            <a:ext cx="6029400" cy="5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5"/>
              <a:buFont typeface="Arial"/>
              <a:buNone/>
            </a:pPr>
            <a:r>
              <a:rPr b="0" i="0" lang="en-US" sz="1425" u="none" cap="none" strike="noStrike">
                <a:solidFill>
                  <a:srgbClr val="435261"/>
                </a:solidFill>
                <a:latin typeface="Nanum Gothic"/>
                <a:ea typeface="Nanum Gothic"/>
                <a:cs typeface="Nanum Gothic"/>
                <a:sym typeface="Nanum Gothic"/>
              </a:rPr>
              <a:t>차량 부품과 가이드 설계, 어셈블리 조립 확인 후 Bambu Lab A1 출력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" name="Google Shape;46;p1"/>
          <p:cNvSpPr/>
          <p:nvPr/>
        </p:nvSpPr>
        <p:spPr>
          <a:xfrm>
            <a:off x="1047750" y="4314825"/>
            <a:ext cx="66600" cy="66600"/>
          </a:xfrm>
          <a:prstGeom prst="ellipse">
            <a:avLst/>
          </a:prstGeom>
          <a:solidFill>
            <a:srgbClr val="167D9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1"/>
          <p:cNvSpPr/>
          <p:nvPr/>
        </p:nvSpPr>
        <p:spPr>
          <a:xfrm>
            <a:off x="1219200" y="4238625"/>
            <a:ext cx="62676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5"/>
              <a:buFont typeface="Arial"/>
              <a:buNone/>
            </a:pPr>
            <a:r>
              <a:rPr b="1" i="0" lang="en-US" sz="1575" u="none" cap="none" strike="noStrike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PLC I/O 확인과 전장 작업 보조</a:t>
            </a:r>
            <a:endParaRPr b="0" i="0" sz="1400" u="none" cap="none" strike="noStrike">
              <a:solidFill>
                <a:srgbClr val="12283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" name="Google Shape;48;p1"/>
          <p:cNvSpPr/>
          <p:nvPr/>
        </p:nvSpPr>
        <p:spPr>
          <a:xfrm>
            <a:off x="1381125" y="4533900"/>
            <a:ext cx="6029400" cy="5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5"/>
              <a:buFont typeface="Arial"/>
              <a:buNone/>
            </a:pPr>
            <a:r>
              <a:rPr b="0" i="0" lang="en-US" sz="1425" u="none" cap="none" strike="noStrike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PLC 담당자와 실제 I/O 리스트·입출력을 대조 확인</a:t>
            </a:r>
            <a:endParaRPr b="0" i="0" sz="1400" u="none" cap="none" strike="noStrike">
              <a:solidFill>
                <a:srgbClr val="12283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5"/>
              <a:buFont typeface="Arial"/>
              <a:buNone/>
            </a:pPr>
            <a:r>
              <a:rPr b="0" i="0" lang="en-US" sz="1425" u="none" cap="none" strike="noStrike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배선 연결 및 모터 납땜 보조</a:t>
            </a:r>
            <a:endParaRPr b="0" i="0" sz="1400" u="none" cap="none" strike="noStrike">
              <a:solidFill>
                <a:srgbClr val="12283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" name="Google Shape;49;p1"/>
          <p:cNvSpPr/>
          <p:nvPr/>
        </p:nvSpPr>
        <p:spPr>
          <a:xfrm>
            <a:off x="1047750" y="5505450"/>
            <a:ext cx="16191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5"/>
              <a:buFont typeface="Arial"/>
              <a:buNone/>
            </a:pPr>
            <a:r>
              <a:rPr b="1" i="0" lang="en-US" sz="1425" u="none" cap="none" strike="noStrike">
                <a:solidFill>
                  <a:srgbClr val="171717"/>
                </a:solidFill>
                <a:latin typeface="Nanum Gothic"/>
                <a:ea typeface="Nanum Gothic"/>
                <a:cs typeface="Nanum Gothic"/>
                <a:sym typeface="Nanum Gothic"/>
              </a:rPr>
              <a:t>사용 기술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" name="Google Shape;50;p1"/>
          <p:cNvSpPr/>
          <p:nvPr/>
        </p:nvSpPr>
        <p:spPr>
          <a:xfrm>
            <a:off x="1047750" y="5848350"/>
            <a:ext cx="1181100" cy="266700"/>
          </a:xfrm>
          <a:prstGeom prst="roundRect">
            <a:avLst>
              <a:gd fmla="val 35714" name="adj"/>
            </a:avLst>
          </a:prstGeom>
          <a:solidFill>
            <a:srgbClr val="E8EE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" name="Google Shape;51;p1"/>
          <p:cNvSpPr/>
          <p:nvPr/>
        </p:nvSpPr>
        <p:spPr>
          <a:xfrm>
            <a:off x="1123950" y="5886450"/>
            <a:ext cx="10287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263E54"/>
                </a:solidFill>
                <a:latin typeface="Nanum Gothic"/>
                <a:ea typeface="Nanum Gothic"/>
                <a:cs typeface="Nanum Gothic"/>
                <a:sym typeface="Nanum Gothic"/>
              </a:rPr>
              <a:t>Python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1"/>
          <p:cNvSpPr/>
          <p:nvPr/>
        </p:nvSpPr>
        <p:spPr>
          <a:xfrm>
            <a:off x="2314575" y="5848350"/>
            <a:ext cx="1181100" cy="266700"/>
          </a:xfrm>
          <a:prstGeom prst="roundRect">
            <a:avLst>
              <a:gd fmla="val 35714" name="adj"/>
            </a:avLst>
          </a:prstGeom>
          <a:solidFill>
            <a:srgbClr val="E8EE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" name="Google Shape;53;p1"/>
          <p:cNvSpPr/>
          <p:nvPr/>
        </p:nvSpPr>
        <p:spPr>
          <a:xfrm>
            <a:off x="2390775" y="5886450"/>
            <a:ext cx="10287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263E54"/>
                </a:solidFill>
                <a:latin typeface="Nanum Gothic"/>
                <a:ea typeface="Nanum Gothic"/>
                <a:cs typeface="Nanum Gothic"/>
                <a:sym typeface="Nanum Gothic"/>
              </a:rPr>
              <a:t>OpenCV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" name="Google Shape;54;p1"/>
          <p:cNvSpPr/>
          <p:nvPr/>
        </p:nvSpPr>
        <p:spPr>
          <a:xfrm>
            <a:off x="3581400" y="5848350"/>
            <a:ext cx="1314600" cy="266700"/>
          </a:xfrm>
          <a:prstGeom prst="roundRect">
            <a:avLst>
              <a:gd fmla="val 35714" name="adj"/>
            </a:avLst>
          </a:prstGeom>
          <a:solidFill>
            <a:srgbClr val="E8EE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1"/>
          <p:cNvSpPr/>
          <p:nvPr/>
        </p:nvSpPr>
        <p:spPr>
          <a:xfrm>
            <a:off x="3657600" y="5886450"/>
            <a:ext cx="11622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263E54"/>
                </a:solidFill>
                <a:latin typeface="Nanum Gothic"/>
                <a:ea typeface="Nanum Gothic"/>
                <a:cs typeface="Nanum Gothic"/>
                <a:sym typeface="Nanum Gothic"/>
              </a:rPr>
              <a:t>YOLO11n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p1"/>
          <p:cNvSpPr/>
          <p:nvPr/>
        </p:nvSpPr>
        <p:spPr>
          <a:xfrm>
            <a:off x="4981575" y="5848350"/>
            <a:ext cx="1314600" cy="266700"/>
          </a:xfrm>
          <a:prstGeom prst="roundRect">
            <a:avLst>
              <a:gd fmla="val 35714" name="adj"/>
            </a:avLst>
          </a:prstGeom>
          <a:solidFill>
            <a:srgbClr val="E8EE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1"/>
          <p:cNvSpPr/>
          <p:nvPr/>
        </p:nvSpPr>
        <p:spPr>
          <a:xfrm>
            <a:off x="5057775" y="5886450"/>
            <a:ext cx="11622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263E54"/>
                </a:solidFill>
                <a:latin typeface="Nanum Gothic"/>
                <a:ea typeface="Nanum Gothic"/>
                <a:cs typeface="Nanum Gothic"/>
                <a:sym typeface="Nanum Gothic"/>
              </a:rPr>
              <a:t>PyTorch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1"/>
          <p:cNvSpPr/>
          <p:nvPr/>
        </p:nvSpPr>
        <p:spPr>
          <a:xfrm>
            <a:off x="6381750" y="5848350"/>
            <a:ext cx="1181100" cy="266700"/>
          </a:xfrm>
          <a:prstGeom prst="roundRect">
            <a:avLst>
              <a:gd fmla="val 35714" name="adj"/>
            </a:avLst>
          </a:prstGeom>
          <a:solidFill>
            <a:srgbClr val="E8EE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1"/>
          <p:cNvSpPr/>
          <p:nvPr/>
        </p:nvSpPr>
        <p:spPr>
          <a:xfrm>
            <a:off x="6457950" y="5886450"/>
            <a:ext cx="10287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263E54"/>
                </a:solidFill>
                <a:latin typeface="Nanum Gothic"/>
                <a:ea typeface="Nanum Gothic"/>
                <a:cs typeface="Nanum Gothic"/>
                <a:sym typeface="Nanum Gothic"/>
              </a:rPr>
              <a:t>OPC-UA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p1"/>
          <p:cNvSpPr/>
          <p:nvPr/>
        </p:nvSpPr>
        <p:spPr>
          <a:xfrm>
            <a:off x="7648575" y="5848350"/>
            <a:ext cx="1714500" cy="266700"/>
          </a:xfrm>
          <a:prstGeom prst="roundRect">
            <a:avLst>
              <a:gd fmla="val 35714" name="adj"/>
            </a:avLst>
          </a:prstGeom>
          <a:solidFill>
            <a:srgbClr val="E8EE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" name="Google Shape;61;p1"/>
          <p:cNvSpPr/>
          <p:nvPr/>
        </p:nvSpPr>
        <p:spPr>
          <a:xfrm>
            <a:off x="7724775" y="5886450"/>
            <a:ext cx="15621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263E54"/>
                </a:solidFill>
                <a:latin typeface="Nanum Gothic"/>
                <a:ea typeface="Nanum Gothic"/>
                <a:cs typeface="Nanum Gothic"/>
                <a:sym typeface="Nanum Gothic"/>
              </a:rPr>
              <a:t>SOLIDWORKS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" name="Google Shape;62;p1"/>
          <p:cNvSpPr/>
          <p:nvPr/>
        </p:nvSpPr>
        <p:spPr>
          <a:xfrm>
            <a:off x="11334750" y="6505575"/>
            <a:ext cx="3333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99999"/>
                </a:solidFill>
                <a:latin typeface="Nanum Gothic"/>
                <a:ea typeface="Nanum Gothic"/>
                <a:cs typeface="Nanum Gothic"/>
                <a:sym typeface="Nanum Gothic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2"/>
          <p:cNvSpPr/>
          <p:nvPr/>
        </p:nvSpPr>
        <p:spPr>
          <a:xfrm>
            <a:off x="685800" y="257175"/>
            <a:ext cx="10820400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75"/>
              <a:buFont typeface="Arial"/>
              <a:buNone/>
            </a:pPr>
            <a:r>
              <a:rPr b="1" i="0" lang="en-US" sz="3075" u="none" cap="none" strike="noStrike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비전 검사 담당 범위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Google Shape;69;p2"/>
          <p:cNvSpPr/>
          <p:nvPr/>
        </p:nvSpPr>
        <p:spPr>
          <a:xfrm>
            <a:off x="685800" y="876300"/>
            <a:ext cx="1082040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7C7C7C"/>
                </a:solidFill>
                <a:latin typeface="Nanum Gothic"/>
                <a:ea typeface="Nanum Gothic"/>
                <a:cs typeface="Nanum Gothic"/>
                <a:sym typeface="Nanum Gothic"/>
              </a:rPr>
              <a:t>촬영과 학습부터 검사 프로그램 및 설비 통신까지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2"/>
          <p:cNvSpPr/>
          <p:nvPr/>
        </p:nvSpPr>
        <p:spPr>
          <a:xfrm>
            <a:off x="914400" y="1438275"/>
            <a:ext cx="10820400" cy="4810125"/>
          </a:xfrm>
          <a:prstGeom prst="roundRect">
            <a:avLst>
              <a:gd fmla="val 2376" name="adj"/>
            </a:avLst>
          </a:prstGeom>
          <a:solidFill>
            <a:srgbClr val="FFFFFF"/>
          </a:solidFill>
          <a:ln cap="flat" cmpd="sng" w="9525">
            <a:solidFill>
              <a:srgbClr val="CDD5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" name="Google Shape;71;p2"/>
          <p:cNvSpPr/>
          <p:nvPr/>
        </p:nvSpPr>
        <p:spPr>
          <a:xfrm>
            <a:off x="1047750" y="1714500"/>
            <a:ext cx="9715500" cy="3143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25"/>
              <a:buFont typeface="Arial"/>
              <a:buNone/>
            </a:pPr>
            <a:r>
              <a:rPr b="1" i="0" lang="en-US" sz="1725" u="none" cap="none" strike="noStrike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직접 수행한 작업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p2"/>
          <p:cNvSpPr/>
          <p:nvPr/>
        </p:nvSpPr>
        <p:spPr>
          <a:xfrm>
            <a:off x="1047750" y="2352675"/>
            <a:ext cx="66675" cy="66675"/>
          </a:xfrm>
          <a:prstGeom prst="ellipse">
            <a:avLst/>
          </a:prstGeom>
          <a:solidFill>
            <a:srgbClr val="167D9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" name="Google Shape;73;p2"/>
          <p:cNvSpPr/>
          <p:nvPr/>
        </p:nvSpPr>
        <p:spPr>
          <a:xfrm>
            <a:off x="1219200" y="2276475"/>
            <a:ext cx="626745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5"/>
              <a:buFont typeface="Arial"/>
              <a:buNone/>
            </a:pPr>
            <a:r>
              <a:rPr b="1" i="0" lang="en-US" sz="1575" u="none" cap="none" strike="noStrike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이미지 수집과 라벨링</a:t>
            </a:r>
            <a:endParaRPr b="0" i="0" sz="1400" u="none" cap="none" strike="noStrike">
              <a:solidFill>
                <a:srgbClr val="12283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2"/>
          <p:cNvSpPr/>
          <p:nvPr/>
        </p:nvSpPr>
        <p:spPr>
          <a:xfrm>
            <a:off x="1381125" y="2571750"/>
            <a:ext cx="6029325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5"/>
              <a:buFont typeface="Arial"/>
              <a:buNone/>
            </a:pPr>
            <a:r>
              <a:rPr b="0" i="0" lang="en-US" sz="1425" u="none" cap="none" strike="noStrike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램프·시트 등 검사 이미지 수집 및 라벨링</a:t>
            </a:r>
            <a:endParaRPr b="0" i="0" sz="1400" u="none" cap="none" strike="noStrike">
              <a:solidFill>
                <a:srgbClr val="12283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" name="Google Shape;75;p2"/>
          <p:cNvSpPr/>
          <p:nvPr/>
        </p:nvSpPr>
        <p:spPr>
          <a:xfrm>
            <a:off x="1047750" y="3133725"/>
            <a:ext cx="66675" cy="66675"/>
          </a:xfrm>
          <a:prstGeom prst="ellipse">
            <a:avLst/>
          </a:prstGeom>
          <a:solidFill>
            <a:srgbClr val="167D9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2"/>
          <p:cNvSpPr/>
          <p:nvPr/>
        </p:nvSpPr>
        <p:spPr>
          <a:xfrm>
            <a:off x="1219200" y="3057525"/>
            <a:ext cx="626745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5"/>
              <a:buFont typeface="Arial"/>
              <a:buNone/>
            </a:pPr>
            <a:r>
              <a:rPr b="1" i="0" lang="en-US" sz="1575" u="none" cap="none" strike="noStrike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학습 데이터 보완</a:t>
            </a:r>
            <a:endParaRPr b="0" i="0" sz="1400" u="none" cap="none" strike="noStrike">
              <a:solidFill>
                <a:srgbClr val="12283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p2"/>
          <p:cNvSpPr/>
          <p:nvPr/>
        </p:nvSpPr>
        <p:spPr>
          <a:xfrm>
            <a:off x="1381125" y="3352800"/>
            <a:ext cx="6029325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5"/>
              <a:buFont typeface="Arial"/>
              <a:buNone/>
            </a:pPr>
            <a:r>
              <a:rPr b="0" i="0" lang="en-US" sz="1425" u="none" cap="none" strike="noStrike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Roboflow와 AI를 활용한 증강으로 촬영 조건 보완</a:t>
            </a:r>
            <a:endParaRPr b="0" i="0" sz="1400" u="none" cap="none" strike="noStrike">
              <a:solidFill>
                <a:srgbClr val="12283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2"/>
          <p:cNvSpPr/>
          <p:nvPr/>
        </p:nvSpPr>
        <p:spPr>
          <a:xfrm>
            <a:off x="1047750" y="3914775"/>
            <a:ext cx="66675" cy="66675"/>
          </a:xfrm>
          <a:prstGeom prst="ellipse">
            <a:avLst/>
          </a:prstGeom>
          <a:solidFill>
            <a:srgbClr val="167D9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2"/>
          <p:cNvSpPr/>
          <p:nvPr/>
        </p:nvSpPr>
        <p:spPr>
          <a:xfrm>
            <a:off x="1219200" y="3838575"/>
            <a:ext cx="626745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5"/>
              <a:buFont typeface="Arial"/>
              <a:buNone/>
            </a:pPr>
            <a:r>
              <a:rPr b="1" i="0" lang="en-US" sz="1575" u="none" cap="none" strike="noStrike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딥러닝과 검사 코드 구현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Google Shape;80;p2"/>
          <p:cNvSpPr/>
          <p:nvPr/>
        </p:nvSpPr>
        <p:spPr>
          <a:xfrm>
            <a:off x="1381125" y="4133850"/>
            <a:ext cx="6029325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5"/>
              <a:buFont typeface="Arial"/>
              <a:buNone/>
            </a:pPr>
            <a:r>
              <a:rPr b="0" i="0" lang="en-US" sz="1425" u="none" cap="none" strike="noStrike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YOLO11n 학습과 Python 검사 코드 구성, 판정 신호 출력</a:t>
            </a:r>
            <a:endParaRPr b="0" i="0" sz="1400" u="none" cap="none" strike="noStrike">
              <a:solidFill>
                <a:srgbClr val="12283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2"/>
          <p:cNvSpPr/>
          <p:nvPr/>
        </p:nvSpPr>
        <p:spPr>
          <a:xfrm>
            <a:off x="1047750" y="4695825"/>
            <a:ext cx="66675" cy="66675"/>
          </a:xfrm>
          <a:prstGeom prst="ellipse">
            <a:avLst/>
          </a:prstGeom>
          <a:solidFill>
            <a:srgbClr val="167D9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2"/>
          <p:cNvSpPr/>
          <p:nvPr/>
        </p:nvSpPr>
        <p:spPr>
          <a:xfrm>
            <a:off x="1219200" y="4619625"/>
            <a:ext cx="626745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5"/>
              <a:buFont typeface="Arial"/>
              <a:buNone/>
            </a:pPr>
            <a:r>
              <a:rPr b="1" i="0" lang="en-US" sz="1575" u="none" cap="none" strike="noStrike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검사 신호와 카메라 연결</a:t>
            </a:r>
            <a:endParaRPr b="0" i="0" sz="1400" u="none" cap="none" strike="noStrike">
              <a:solidFill>
                <a:srgbClr val="12283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2"/>
          <p:cNvSpPr/>
          <p:nvPr/>
        </p:nvSpPr>
        <p:spPr>
          <a:xfrm>
            <a:off x="1381125" y="4914900"/>
            <a:ext cx="6029325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5"/>
              <a:buFont typeface="Arial"/>
              <a:buNone/>
            </a:pPr>
            <a:r>
              <a:rPr b="0" i="0" lang="en-US" sz="1425" u="none" cap="none" strike="noStrike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OPC-UA 시작·완료·판정·오류 신호 연동 및 상태 확인</a:t>
            </a:r>
            <a:endParaRPr b="0" i="0" sz="1400" u="none" cap="none" strike="noStrike">
              <a:solidFill>
                <a:srgbClr val="12283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"/>
          <p:cNvSpPr/>
          <p:nvPr/>
        </p:nvSpPr>
        <p:spPr>
          <a:xfrm>
            <a:off x="8020050" y="2057400"/>
            <a:ext cx="32766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5"/>
              <a:buFont typeface="Arial"/>
              <a:buNone/>
            </a:pPr>
            <a:r>
              <a:rPr b="1" i="0" lang="en-US" sz="1425" u="none" cap="none" strike="noStrike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비전 개발 과정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2"/>
          <p:cNvSpPr/>
          <p:nvPr/>
        </p:nvSpPr>
        <p:spPr>
          <a:xfrm>
            <a:off x="8020050" y="2428875"/>
            <a:ext cx="3276600" cy="590550"/>
          </a:xfrm>
          <a:prstGeom prst="rect">
            <a:avLst/>
          </a:prstGeom>
          <a:solidFill>
            <a:srgbClr val="F0F5F7"/>
          </a:solidFill>
          <a:ln cap="flat" cmpd="sng" w="9525">
            <a:solidFill>
              <a:srgbClr val="C7D8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2"/>
          <p:cNvSpPr/>
          <p:nvPr/>
        </p:nvSpPr>
        <p:spPr>
          <a:xfrm>
            <a:off x="8143875" y="2533650"/>
            <a:ext cx="361950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67D91"/>
                </a:solidFill>
                <a:latin typeface="Nanum Gothic"/>
                <a:ea typeface="Nanum Gothic"/>
                <a:cs typeface="Nanum Gothic"/>
                <a:sym typeface="Nanum Gothic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2"/>
          <p:cNvSpPr/>
          <p:nvPr/>
        </p:nvSpPr>
        <p:spPr>
          <a:xfrm>
            <a:off x="8572500" y="2505075"/>
            <a:ext cx="2628900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5"/>
              <a:buFont typeface="Arial"/>
              <a:buNone/>
            </a:pPr>
            <a:r>
              <a:rPr b="1" i="0" lang="en-US" sz="1425" u="none" cap="none" strike="noStrike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이미지 촬영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2"/>
          <p:cNvSpPr/>
          <p:nvPr/>
        </p:nvSpPr>
        <p:spPr>
          <a:xfrm>
            <a:off x="8572500" y="2752725"/>
            <a:ext cx="2628900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526577"/>
                </a:solidFill>
                <a:latin typeface="Nanum Gothic"/>
                <a:ea typeface="Nanum Gothic"/>
                <a:cs typeface="Nanum Gothic"/>
                <a:sym typeface="Nanum Gothic"/>
              </a:rPr>
              <a:t>실제 검사 대상 수집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2"/>
          <p:cNvSpPr/>
          <p:nvPr/>
        </p:nvSpPr>
        <p:spPr>
          <a:xfrm>
            <a:off x="9629775" y="3019425"/>
            <a:ext cx="19050" cy="133350"/>
          </a:xfrm>
          <a:prstGeom prst="rect">
            <a:avLst/>
          </a:prstGeom>
          <a:solidFill>
            <a:srgbClr val="167D9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2"/>
          <p:cNvSpPr/>
          <p:nvPr/>
        </p:nvSpPr>
        <p:spPr>
          <a:xfrm>
            <a:off x="8020050" y="3152775"/>
            <a:ext cx="3276600" cy="590550"/>
          </a:xfrm>
          <a:prstGeom prst="rect">
            <a:avLst/>
          </a:prstGeom>
          <a:solidFill>
            <a:srgbClr val="F0F5F7"/>
          </a:solidFill>
          <a:ln cap="flat" cmpd="sng" w="9525">
            <a:solidFill>
              <a:srgbClr val="C7D8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2"/>
          <p:cNvSpPr/>
          <p:nvPr/>
        </p:nvSpPr>
        <p:spPr>
          <a:xfrm>
            <a:off x="8143875" y="3257550"/>
            <a:ext cx="361950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67D91"/>
                </a:solidFill>
                <a:latin typeface="Nanum Gothic"/>
                <a:ea typeface="Nanum Gothic"/>
                <a:cs typeface="Nanum Gothic"/>
                <a:sym typeface="Nanum Gothic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2"/>
          <p:cNvSpPr/>
          <p:nvPr/>
        </p:nvSpPr>
        <p:spPr>
          <a:xfrm>
            <a:off x="8572500" y="3228975"/>
            <a:ext cx="2628900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5"/>
              <a:buFont typeface="Arial"/>
              <a:buNone/>
            </a:pPr>
            <a:r>
              <a:rPr b="1" i="0" lang="en-US" sz="1425" u="none" cap="none" strike="noStrike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데이터 준비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p2"/>
          <p:cNvSpPr/>
          <p:nvPr/>
        </p:nvSpPr>
        <p:spPr>
          <a:xfrm>
            <a:off x="8572500" y="3476625"/>
            <a:ext cx="2628900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526577"/>
                </a:solidFill>
                <a:latin typeface="Nanum Gothic"/>
                <a:ea typeface="Nanum Gothic"/>
                <a:cs typeface="Nanum Gothic"/>
                <a:sym typeface="Nanum Gothic"/>
              </a:rPr>
              <a:t>증강 및 객체 라벨링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9629775" y="3743325"/>
            <a:ext cx="19050" cy="133350"/>
          </a:xfrm>
          <a:prstGeom prst="rect">
            <a:avLst/>
          </a:prstGeom>
          <a:solidFill>
            <a:srgbClr val="167D9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2"/>
          <p:cNvSpPr/>
          <p:nvPr/>
        </p:nvSpPr>
        <p:spPr>
          <a:xfrm>
            <a:off x="8020050" y="3876675"/>
            <a:ext cx="3276600" cy="590550"/>
          </a:xfrm>
          <a:prstGeom prst="rect">
            <a:avLst/>
          </a:prstGeom>
          <a:solidFill>
            <a:srgbClr val="F0F5F7"/>
          </a:solidFill>
          <a:ln cap="flat" cmpd="sng" w="9525">
            <a:solidFill>
              <a:srgbClr val="C7D8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2"/>
          <p:cNvSpPr/>
          <p:nvPr/>
        </p:nvSpPr>
        <p:spPr>
          <a:xfrm>
            <a:off x="8143875" y="3981450"/>
            <a:ext cx="361950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67D91"/>
                </a:solidFill>
                <a:latin typeface="Nanum Gothic"/>
                <a:ea typeface="Nanum Gothic"/>
                <a:cs typeface="Nanum Gothic"/>
                <a:sym typeface="Nanum Gothic"/>
              </a:rPr>
              <a:t>03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2"/>
          <p:cNvSpPr/>
          <p:nvPr/>
        </p:nvSpPr>
        <p:spPr>
          <a:xfrm>
            <a:off x="8572500" y="3952875"/>
            <a:ext cx="2628900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5"/>
              <a:buFont typeface="Arial"/>
              <a:buNone/>
            </a:pPr>
            <a:r>
              <a:rPr b="1" i="0" lang="en-US" sz="1425" u="none" cap="none" strike="noStrike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학습과 실시간 검사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2"/>
          <p:cNvSpPr/>
          <p:nvPr/>
        </p:nvSpPr>
        <p:spPr>
          <a:xfrm>
            <a:off x="8572500" y="4200525"/>
            <a:ext cx="2628900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526577"/>
                </a:solidFill>
                <a:latin typeface="Nanum Gothic"/>
                <a:ea typeface="Nanum Gothic"/>
                <a:cs typeface="Nanum Gothic"/>
                <a:sym typeface="Nanum Gothic"/>
              </a:rPr>
              <a:t>YOLO11n · Python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2"/>
          <p:cNvSpPr/>
          <p:nvPr/>
        </p:nvSpPr>
        <p:spPr>
          <a:xfrm>
            <a:off x="9629775" y="4467225"/>
            <a:ext cx="19050" cy="133350"/>
          </a:xfrm>
          <a:prstGeom prst="rect">
            <a:avLst/>
          </a:prstGeom>
          <a:solidFill>
            <a:srgbClr val="167D9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2"/>
          <p:cNvSpPr/>
          <p:nvPr/>
        </p:nvSpPr>
        <p:spPr>
          <a:xfrm>
            <a:off x="8020050" y="4600575"/>
            <a:ext cx="3276600" cy="590550"/>
          </a:xfrm>
          <a:prstGeom prst="rect">
            <a:avLst/>
          </a:prstGeom>
          <a:solidFill>
            <a:srgbClr val="F0F5F7"/>
          </a:solidFill>
          <a:ln cap="flat" cmpd="sng" w="9525">
            <a:solidFill>
              <a:srgbClr val="C7D8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2"/>
          <p:cNvSpPr/>
          <p:nvPr/>
        </p:nvSpPr>
        <p:spPr>
          <a:xfrm>
            <a:off x="8143875" y="4705350"/>
            <a:ext cx="361950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67D91"/>
                </a:solidFill>
                <a:latin typeface="Nanum Gothic"/>
                <a:ea typeface="Nanum Gothic"/>
                <a:cs typeface="Nanum Gothic"/>
                <a:sym typeface="Nanum Gothic"/>
              </a:rPr>
              <a:t>04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2"/>
          <p:cNvSpPr/>
          <p:nvPr/>
        </p:nvSpPr>
        <p:spPr>
          <a:xfrm>
            <a:off x="8572500" y="4676775"/>
            <a:ext cx="2628900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5"/>
              <a:buFont typeface="Arial"/>
              <a:buNone/>
            </a:pPr>
            <a:r>
              <a:rPr b="1" i="0" lang="en-US" sz="1425" u="none" cap="none" strike="noStrike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설비 신호 교환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2"/>
          <p:cNvSpPr/>
          <p:nvPr/>
        </p:nvSpPr>
        <p:spPr>
          <a:xfrm>
            <a:off x="8572500" y="4924425"/>
            <a:ext cx="2628900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526577"/>
                </a:solidFill>
                <a:latin typeface="Nanum Gothic"/>
                <a:ea typeface="Nanum Gothic"/>
                <a:cs typeface="Nanum Gothic"/>
                <a:sym typeface="Nanum Gothic"/>
              </a:rPr>
              <a:t>OPC-UA로 PLC와 연동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2"/>
          <p:cNvSpPr/>
          <p:nvPr/>
        </p:nvSpPr>
        <p:spPr>
          <a:xfrm>
            <a:off x="1047750" y="5505450"/>
            <a:ext cx="161925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5"/>
              <a:buFont typeface="Arial"/>
              <a:buNone/>
            </a:pPr>
            <a:r>
              <a:rPr b="1" i="0" lang="en-US" sz="1425" u="none" cap="none" strike="noStrike">
                <a:solidFill>
                  <a:srgbClr val="171717"/>
                </a:solidFill>
                <a:latin typeface="Nanum Gothic"/>
                <a:ea typeface="Nanum Gothic"/>
                <a:cs typeface="Nanum Gothic"/>
                <a:sym typeface="Nanum Gothic"/>
              </a:rPr>
              <a:t>사용 기술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2"/>
          <p:cNvSpPr/>
          <p:nvPr/>
        </p:nvSpPr>
        <p:spPr>
          <a:xfrm>
            <a:off x="1047750" y="5848350"/>
            <a:ext cx="1447800" cy="266700"/>
          </a:xfrm>
          <a:prstGeom prst="roundRect">
            <a:avLst>
              <a:gd fmla="val 35714" name="adj"/>
            </a:avLst>
          </a:prstGeom>
          <a:solidFill>
            <a:srgbClr val="E8EE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p2"/>
          <p:cNvSpPr/>
          <p:nvPr/>
        </p:nvSpPr>
        <p:spPr>
          <a:xfrm>
            <a:off x="1123950" y="5886450"/>
            <a:ext cx="12954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263E54"/>
                </a:solidFill>
                <a:latin typeface="Nanum Gothic"/>
                <a:ea typeface="Nanum Gothic"/>
                <a:cs typeface="Nanum Gothic"/>
                <a:sym typeface="Nanum Gothic"/>
              </a:rPr>
              <a:t>Roboflow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2"/>
          <p:cNvSpPr/>
          <p:nvPr/>
        </p:nvSpPr>
        <p:spPr>
          <a:xfrm>
            <a:off x="2581275" y="5848350"/>
            <a:ext cx="1314450" cy="266700"/>
          </a:xfrm>
          <a:prstGeom prst="roundRect">
            <a:avLst>
              <a:gd fmla="val 35714" name="adj"/>
            </a:avLst>
          </a:prstGeom>
          <a:solidFill>
            <a:srgbClr val="E8EE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2"/>
          <p:cNvSpPr/>
          <p:nvPr/>
        </p:nvSpPr>
        <p:spPr>
          <a:xfrm>
            <a:off x="2657475" y="5886450"/>
            <a:ext cx="116205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263E54"/>
                </a:solidFill>
                <a:latin typeface="Nanum Gothic"/>
                <a:ea typeface="Nanum Gothic"/>
                <a:cs typeface="Nanum Gothic"/>
                <a:sym typeface="Nanum Gothic"/>
              </a:rPr>
              <a:t>PyTorch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" name="Google Shape;109;p2"/>
          <p:cNvSpPr/>
          <p:nvPr/>
        </p:nvSpPr>
        <p:spPr>
          <a:xfrm>
            <a:off x="3981450" y="5848350"/>
            <a:ext cx="1181100" cy="266700"/>
          </a:xfrm>
          <a:prstGeom prst="roundRect">
            <a:avLst>
              <a:gd fmla="val 35714" name="adj"/>
            </a:avLst>
          </a:prstGeom>
          <a:solidFill>
            <a:srgbClr val="E8EE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p2"/>
          <p:cNvSpPr/>
          <p:nvPr/>
        </p:nvSpPr>
        <p:spPr>
          <a:xfrm>
            <a:off x="4057650" y="5886450"/>
            <a:ext cx="10287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263E54"/>
                </a:solidFill>
                <a:latin typeface="Nanum Gothic"/>
                <a:ea typeface="Nanum Gothic"/>
                <a:cs typeface="Nanum Gothic"/>
                <a:sym typeface="Nanum Gothic"/>
              </a:rPr>
              <a:t>Python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p2"/>
          <p:cNvSpPr/>
          <p:nvPr/>
        </p:nvSpPr>
        <p:spPr>
          <a:xfrm>
            <a:off x="5248275" y="5848350"/>
            <a:ext cx="1181100" cy="266700"/>
          </a:xfrm>
          <a:prstGeom prst="roundRect">
            <a:avLst>
              <a:gd fmla="val 35714" name="adj"/>
            </a:avLst>
          </a:prstGeom>
          <a:solidFill>
            <a:srgbClr val="E8EE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Google Shape;112;p2"/>
          <p:cNvSpPr/>
          <p:nvPr/>
        </p:nvSpPr>
        <p:spPr>
          <a:xfrm>
            <a:off x="5324475" y="5886450"/>
            <a:ext cx="10287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263E54"/>
                </a:solidFill>
                <a:latin typeface="Nanum Gothic"/>
                <a:ea typeface="Nanum Gothic"/>
                <a:cs typeface="Nanum Gothic"/>
                <a:sym typeface="Nanum Gothic"/>
              </a:rPr>
              <a:t>OpenCV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113;p2"/>
          <p:cNvSpPr/>
          <p:nvPr/>
        </p:nvSpPr>
        <p:spPr>
          <a:xfrm>
            <a:off x="6515100" y="5848350"/>
            <a:ext cx="1181100" cy="266700"/>
          </a:xfrm>
          <a:prstGeom prst="roundRect">
            <a:avLst>
              <a:gd fmla="val 35714" name="adj"/>
            </a:avLst>
          </a:prstGeom>
          <a:solidFill>
            <a:srgbClr val="E8EE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2"/>
          <p:cNvSpPr/>
          <p:nvPr/>
        </p:nvSpPr>
        <p:spPr>
          <a:xfrm>
            <a:off x="6591300" y="5886450"/>
            <a:ext cx="10287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263E54"/>
                </a:solidFill>
                <a:latin typeface="Nanum Gothic"/>
                <a:ea typeface="Nanum Gothic"/>
                <a:cs typeface="Nanum Gothic"/>
                <a:sym typeface="Nanum Gothic"/>
              </a:rPr>
              <a:t>OPC-UA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p2"/>
          <p:cNvSpPr/>
          <p:nvPr/>
        </p:nvSpPr>
        <p:spPr>
          <a:xfrm>
            <a:off x="11334750" y="6505575"/>
            <a:ext cx="333375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99999"/>
                </a:solidFill>
                <a:latin typeface="Nanum Gothic"/>
                <a:ea typeface="Nanum Gothic"/>
                <a:cs typeface="Nanum Gothic"/>
                <a:sym typeface="Nanum Gothic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3"/>
          <p:cNvSpPr/>
          <p:nvPr/>
        </p:nvSpPr>
        <p:spPr>
          <a:xfrm>
            <a:off x="685800" y="257175"/>
            <a:ext cx="10820400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75"/>
              <a:buFont typeface="Arial"/>
              <a:buNone/>
            </a:pPr>
            <a:r>
              <a:rPr b="1" i="0" lang="en-US" sz="3075" u="none" cap="none" strike="noStrike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촬영과 학습 데이터 준비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p3"/>
          <p:cNvSpPr/>
          <p:nvPr/>
        </p:nvSpPr>
        <p:spPr>
          <a:xfrm>
            <a:off x="685800" y="876300"/>
            <a:ext cx="1082040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7C7C7C"/>
                </a:solidFill>
                <a:latin typeface="Nanum Gothic"/>
                <a:ea typeface="Nanum Gothic"/>
                <a:cs typeface="Nanum Gothic"/>
                <a:sym typeface="Nanum Gothic"/>
              </a:rPr>
              <a:t>처음 접한 비전 작업의 순서를 자료와 조언을 통해 익힘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" name="Google Shape;123;p3"/>
          <p:cNvSpPr/>
          <p:nvPr/>
        </p:nvSpPr>
        <p:spPr>
          <a:xfrm>
            <a:off x="914400" y="1438275"/>
            <a:ext cx="10820400" cy="4810125"/>
          </a:xfrm>
          <a:prstGeom prst="roundRect">
            <a:avLst>
              <a:gd fmla="val 2376" name="adj"/>
            </a:avLst>
          </a:prstGeom>
          <a:solidFill>
            <a:srgbClr val="FFFFFF"/>
          </a:solidFill>
          <a:ln cap="flat" cmpd="sng" w="9525">
            <a:solidFill>
              <a:srgbClr val="CDD5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3"/>
          <p:cNvSpPr/>
          <p:nvPr/>
        </p:nvSpPr>
        <p:spPr>
          <a:xfrm>
            <a:off x="1047750" y="1714500"/>
            <a:ext cx="9715500" cy="3143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25"/>
              <a:buFont typeface="Arial"/>
              <a:buNone/>
            </a:pPr>
            <a:r>
              <a:rPr b="1" i="0" lang="en-US" sz="1725" u="none" cap="none" strike="noStrike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작업 과정과 어려움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3"/>
          <p:cNvSpPr/>
          <p:nvPr/>
        </p:nvSpPr>
        <p:spPr>
          <a:xfrm>
            <a:off x="1047750" y="2352675"/>
            <a:ext cx="66675" cy="66675"/>
          </a:xfrm>
          <a:prstGeom prst="ellipse">
            <a:avLst/>
          </a:prstGeom>
          <a:solidFill>
            <a:srgbClr val="167D9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3"/>
          <p:cNvSpPr/>
          <p:nvPr/>
        </p:nvSpPr>
        <p:spPr>
          <a:xfrm>
            <a:off x="1219200" y="2276475"/>
            <a:ext cx="626745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5"/>
              <a:buFont typeface="Arial"/>
              <a:buNone/>
            </a:pPr>
            <a:r>
              <a:rPr b="1" i="0" lang="en-US" sz="1575" u="none" cap="none" strike="noStrike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촬영부터 라벨링까지 진행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3"/>
          <p:cNvSpPr/>
          <p:nvPr/>
        </p:nvSpPr>
        <p:spPr>
          <a:xfrm>
            <a:off x="1381125" y="2571750"/>
            <a:ext cx="6029325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5"/>
              <a:buFont typeface="Arial"/>
              <a:buNone/>
            </a:pPr>
            <a:r>
              <a:rPr b="0" i="0" lang="en-US" sz="1425" u="none" cap="none" strike="noStrike">
                <a:solidFill>
                  <a:srgbClr val="435261"/>
                </a:solidFill>
                <a:latin typeface="Nanum Gothic"/>
                <a:ea typeface="Nanum Gothic"/>
                <a:cs typeface="Nanum Gothic"/>
                <a:sym typeface="Nanum Gothic"/>
              </a:rPr>
              <a:t>학습에 필요한 이미지를 촬영하고 객체 영역 지정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3"/>
          <p:cNvSpPr/>
          <p:nvPr/>
        </p:nvSpPr>
        <p:spPr>
          <a:xfrm>
            <a:off x="1047750" y="3133725"/>
            <a:ext cx="66675" cy="66675"/>
          </a:xfrm>
          <a:prstGeom prst="ellipse">
            <a:avLst/>
          </a:prstGeom>
          <a:solidFill>
            <a:srgbClr val="167D9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p3"/>
          <p:cNvSpPr/>
          <p:nvPr/>
        </p:nvSpPr>
        <p:spPr>
          <a:xfrm>
            <a:off x="1219200" y="3057525"/>
            <a:ext cx="626745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5"/>
              <a:buFont typeface="Arial"/>
              <a:buNone/>
            </a:pPr>
            <a:r>
              <a:rPr b="1" i="0" lang="en-US" sz="1575" u="none" cap="none" strike="noStrike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다각형 라벨링의 시간 부담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3"/>
          <p:cNvSpPr/>
          <p:nvPr/>
        </p:nvSpPr>
        <p:spPr>
          <a:xfrm>
            <a:off x="1381125" y="3352800"/>
            <a:ext cx="6029325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5"/>
              <a:buFont typeface="Arial"/>
              <a:buNone/>
            </a:pPr>
            <a:r>
              <a:rPr b="0" i="0" lang="en-US" sz="1425" u="none" cap="none" strike="noStrike">
                <a:solidFill>
                  <a:srgbClr val="435261"/>
                </a:solidFill>
                <a:latin typeface="Nanum Gothic"/>
                <a:ea typeface="Nanum Gothic"/>
                <a:cs typeface="Nanum Gothic"/>
                <a:sym typeface="Nanum Gothic"/>
              </a:rPr>
              <a:t>객체 형태를 따라 점을 하나씩 지정하는 작업에 많은 시간 소요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3"/>
          <p:cNvSpPr/>
          <p:nvPr/>
        </p:nvSpPr>
        <p:spPr>
          <a:xfrm>
            <a:off x="1047750" y="3914775"/>
            <a:ext cx="66675" cy="66675"/>
          </a:xfrm>
          <a:prstGeom prst="ellipse">
            <a:avLst/>
          </a:prstGeom>
          <a:solidFill>
            <a:srgbClr val="167D9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p3"/>
          <p:cNvSpPr/>
          <p:nvPr/>
        </p:nvSpPr>
        <p:spPr>
          <a:xfrm>
            <a:off x="1219200" y="3838575"/>
            <a:ext cx="626745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5"/>
              <a:buFont typeface="Arial"/>
              <a:buNone/>
            </a:pPr>
            <a:r>
              <a:rPr b="1" i="0" lang="en-US" sz="1575" u="none" cap="none" strike="noStrike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다른 역할과의 작업 병행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Google Shape;133;p3"/>
          <p:cNvSpPr/>
          <p:nvPr/>
        </p:nvSpPr>
        <p:spPr>
          <a:xfrm>
            <a:off x="1381125" y="4133850"/>
            <a:ext cx="6029325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5"/>
              <a:buFont typeface="Arial"/>
              <a:buNone/>
            </a:pPr>
            <a:r>
              <a:rPr b="0" i="0" lang="en-US" sz="1425" u="none" cap="none" strike="noStrike">
                <a:solidFill>
                  <a:srgbClr val="435261"/>
                </a:solidFill>
                <a:latin typeface="Nanum Gothic"/>
                <a:ea typeface="Nanum Gothic"/>
                <a:cs typeface="Nanum Gothic"/>
                <a:sym typeface="Nanum Gothic"/>
              </a:rPr>
              <a:t>모델링과 현장 보조를 함께 수행하며 라벨링 물량 확보에 제약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" name="Google Shape;134;p3"/>
          <p:cNvSpPr/>
          <p:nvPr/>
        </p:nvSpPr>
        <p:spPr>
          <a:xfrm>
            <a:off x="1047750" y="4695825"/>
            <a:ext cx="66675" cy="66675"/>
          </a:xfrm>
          <a:prstGeom prst="ellipse">
            <a:avLst/>
          </a:prstGeom>
          <a:solidFill>
            <a:srgbClr val="167D9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Google Shape;135;p3"/>
          <p:cNvSpPr/>
          <p:nvPr/>
        </p:nvSpPr>
        <p:spPr>
          <a:xfrm>
            <a:off x="1219200" y="4619625"/>
            <a:ext cx="626745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5"/>
              <a:buFont typeface="Arial"/>
              <a:buNone/>
            </a:pPr>
            <a:r>
              <a:rPr b="1" i="0" lang="en-US" sz="1575" u="none" cap="none" strike="noStrike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데이터 증강으로 촬영 조건 확장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" name="Google Shape;136;p3"/>
          <p:cNvSpPr/>
          <p:nvPr/>
        </p:nvSpPr>
        <p:spPr>
          <a:xfrm>
            <a:off x="1381125" y="4914900"/>
            <a:ext cx="6029325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5"/>
              <a:buFont typeface="Arial"/>
              <a:buNone/>
            </a:pPr>
            <a:r>
              <a:rPr b="0" i="0" lang="en-US" sz="1425" u="none" cap="none" strike="noStrike">
                <a:solidFill>
                  <a:srgbClr val="435261"/>
                </a:solidFill>
                <a:latin typeface="Nanum Gothic"/>
                <a:ea typeface="Nanum Gothic"/>
                <a:cs typeface="Nanum Gothic"/>
                <a:sym typeface="Nanum Gothic"/>
              </a:rPr>
              <a:t>Roboflow와 AI를 활용하여 방향 등 다양한 조건의 학습 이미지 준비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7" name="Google Shape;137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17875" y="1684200"/>
            <a:ext cx="1800002" cy="1439999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3"/>
          <p:cNvSpPr/>
          <p:nvPr/>
        </p:nvSpPr>
        <p:spPr>
          <a:xfrm>
            <a:off x="6888475" y="3205150"/>
            <a:ext cx="24588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57585"/>
                </a:solidFill>
                <a:latin typeface="Nanum Gothic"/>
                <a:ea typeface="Nanum Gothic"/>
                <a:cs typeface="Nanum Gothic"/>
                <a:sym typeface="Nanum Gothic"/>
              </a:rPr>
              <a:t>객체 라벨링 작업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p3"/>
          <p:cNvSpPr/>
          <p:nvPr/>
        </p:nvSpPr>
        <p:spPr>
          <a:xfrm>
            <a:off x="1047750" y="5505450"/>
            <a:ext cx="161925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5"/>
              <a:buFont typeface="Arial"/>
              <a:buNone/>
            </a:pPr>
            <a:r>
              <a:rPr b="1" i="0" lang="en-US" sz="1425" u="none" cap="none" strike="noStrike">
                <a:solidFill>
                  <a:srgbClr val="171717"/>
                </a:solidFill>
                <a:latin typeface="Nanum Gothic"/>
                <a:ea typeface="Nanum Gothic"/>
                <a:cs typeface="Nanum Gothic"/>
                <a:sym typeface="Nanum Gothic"/>
              </a:rPr>
              <a:t>사용 기술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" name="Google Shape;140;p3"/>
          <p:cNvSpPr/>
          <p:nvPr/>
        </p:nvSpPr>
        <p:spPr>
          <a:xfrm>
            <a:off x="1047750" y="5848350"/>
            <a:ext cx="1181100" cy="266700"/>
          </a:xfrm>
          <a:prstGeom prst="roundRect">
            <a:avLst>
              <a:gd fmla="val 35714" name="adj"/>
            </a:avLst>
          </a:prstGeom>
          <a:solidFill>
            <a:srgbClr val="E8EE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" name="Google Shape;141;p3"/>
          <p:cNvSpPr/>
          <p:nvPr/>
        </p:nvSpPr>
        <p:spPr>
          <a:xfrm>
            <a:off x="1123950" y="5886450"/>
            <a:ext cx="10287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263E54"/>
                </a:solidFill>
                <a:latin typeface="Nanum Gothic"/>
                <a:ea typeface="Nanum Gothic"/>
                <a:cs typeface="Nanum Gothic"/>
                <a:sym typeface="Nanum Gothic"/>
              </a:rPr>
              <a:t>이미지 촬영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3"/>
          <p:cNvSpPr/>
          <p:nvPr/>
        </p:nvSpPr>
        <p:spPr>
          <a:xfrm>
            <a:off x="2314575" y="5848350"/>
            <a:ext cx="1447800" cy="266700"/>
          </a:xfrm>
          <a:prstGeom prst="roundRect">
            <a:avLst>
              <a:gd fmla="val 35714" name="adj"/>
            </a:avLst>
          </a:prstGeom>
          <a:solidFill>
            <a:srgbClr val="E8EE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Google Shape;143;p3"/>
          <p:cNvSpPr/>
          <p:nvPr/>
        </p:nvSpPr>
        <p:spPr>
          <a:xfrm>
            <a:off x="2390775" y="5886450"/>
            <a:ext cx="12954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263E54"/>
                </a:solidFill>
                <a:latin typeface="Nanum Gothic"/>
                <a:ea typeface="Nanum Gothic"/>
                <a:cs typeface="Nanum Gothic"/>
                <a:sym typeface="Nanum Gothic"/>
              </a:rPr>
              <a:t>Roboflow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3"/>
          <p:cNvSpPr/>
          <p:nvPr/>
        </p:nvSpPr>
        <p:spPr>
          <a:xfrm>
            <a:off x="3848100" y="5848350"/>
            <a:ext cx="1181100" cy="266700"/>
          </a:xfrm>
          <a:prstGeom prst="roundRect">
            <a:avLst>
              <a:gd fmla="val 35714" name="adj"/>
            </a:avLst>
          </a:prstGeom>
          <a:solidFill>
            <a:srgbClr val="E8EE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Google Shape;145;p3"/>
          <p:cNvSpPr/>
          <p:nvPr/>
        </p:nvSpPr>
        <p:spPr>
          <a:xfrm>
            <a:off x="3924300" y="5886450"/>
            <a:ext cx="10287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263E54"/>
                </a:solidFill>
                <a:latin typeface="Nanum Gothic"/>
                <a:ea typeface="Nanum Gothic"/>
                <a:cs typeface="Nanum Gothic"/>
                <a:sym typeface="Nanum Gothic"/>
              </a:rPr>
              <a:t>데이터 증강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" name="Google Shape;146;p3"/>
          <p:cNvSpPr/>
          <p:nvPr/>
        </p:nvSpPr>
        <p:spPr>
          <a:xfrm>
            <a:off x="5114925" y="5848350"/>
            <a:ext cx="1181100" cy="266700"/>
          </a:xfrm>
          <a:prstGeom prst="roundRect">
            <a:avLst>
              <a:gd fmla="val 35714" name="adj"/>
            </a:avLst>
          </a:prstGeom>
          <a:solidFill>
            <a:srgbClr val="E8EE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p3"/>
          <p:cNvSpPr/>
          <p:nvPr/>
        </p:nvSpPr>
        <p:spPr>
          <a:xfrm>
            <a:off x="5191125" y="5886450"/>
            <a:ext cx="10287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263E54"/>
                </a:solidFill>
                <a:latin typeface="Nanum Gothic"/>
                <a:ea typeface="Nanum Gothic"/>
                <a:cs typeface="Nanum Gothic"/>
                <a:sym typeface="Nanum Gothic"/>
              </a:rPr>
              <a:t>객체 라벨링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" name="Google Shape;148;p3"/>
          <p:cNvSpPr/>
          <p:nvPr/>
        </p:nvSpPr>
        <p:spPr>
          <a:xfrm>
            <a:off x="11334750" y="6505575"/>
            <a:ext cx="333375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99999"/>
                </a:solidFill>
                <a:latin typeface="Nanum Gothic"/>
                <a:ea typeface="Nanum Gothic"/>
                <a:cs typeface="Nanum Gothic"/>
                <a:sym typeface="Nanum Gothic"/>
              </a:rPr>
              <a:t>03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9" name="Google Shape;149;p3" title="Capture_2026_0908_174626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448300" y="1666009"/>
            <a:ext cx="1799997" cy="1440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0" name="Google Shape;150;p3" title="train_batch1641.jpg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217875" y="3552800"/>
            <a:ext cx="1800000" cy="14400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DD5DE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151" name="Google Shape;151;p3" title="train_batch1642.jpg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448300" y="3562325"/>
            <a:ext cx="1800000" cy="14400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DD5DE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52" name="Google Shape;152;p3"/>
          <p:cNvSpPr/>
          <p:nvPr/>
        </p:nvSpPr>
        <p:spPr>
          <a:xfrm>
            <a:off x="9118900" y="3200800"/>
            <a:ext cx="24588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57585"/>
                </a:solidFill>
                <a:latin typeface="Nanum Gothic"/>
                <a:ea typeface="Nanum Gothic"/>
                <a:cs typeface="Nanum Gothic"/>
                <a:sym typeface="Nanum Gothic"/>
              </a:rPr>
              <a:t>Roboflow 객체 라벨링 완료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3"/>
          <p:cNvSpPr/>
          <p:nvPr/>
        </p:nvSpPr>
        <p:spPr>
          <a:xfrm>
            <a:off x="6888475" y="5172075"/>
            <a:ext cx="24588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57585"/>
                </a:solidFill>
                <a:latin typeface="Nanum Gothic"/>
                <a:ea typeface="Nanum Gothic"/>
                <a:cs typeface="Nanum Gothic"/>
                <a:sym typeface="Nanum Gothic"/>
              </a:rPr>
              <a:t>여러 환경에서 사진촬영1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Google Shape;154;p3"/>
          <p:cNvSpPr/>
          <p:nvPr/>
        </p:nvSpPr>
        <p:spPr>
          <a:xfrm>
            <a:off x="9118900" y="5172075"/>
            <a:ext cx="24588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57585"/>
                </a:solidFill>
                <a:latin typeface="Nanum Gothic"/>
                <a:ea typeface="Nanum Gothic"/>
                <a:cs typeface="Nanum Gothic"/>
                <a:sym typeface="Nanum Gothic"/>
              </a:rPr>
              <a:t>여러 환경에서 사진촬영2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4"/>
          <p:cNvSpPr/>
          <p:nvPr/>
        </p:nvSpPr>
        <p:spPr>
          <a:xfrm>
            <a:off x="685800" y="257175"/>
            <a:ext cx="10820400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75"/>
              <a:buFont typeface="Arial"/>
              <a:buNone/>
            </a:pPr>
            <a:r>
              <a:rPr b="1" i="0" lang="en-US" sz="3075" u="none" cap="none" strike="noStrike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딥러닝 학습과 인식 개선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" name="Google Shape;161;p4"/>
          <p:cNvSpPr/>
          <p:nvPr/>
        </p:nvSpPr>
        <p:spPr>
          <a:xfrm>
            <a:off x="685800" y="876300"/>
            <a:ext cx="1082040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7C7C7C"/>
                </a:solidFill>
                <a:latin typeface="Nanum Gothic"/>
                <a:ea typeface="Nanum Gothic"/>
                <a:cs typeface="Nanum Gothic"/>
                <a:sym typeface="Nanum Gothic"/>
              </a:rPr>
              <a:t>객체 인식이 불안정한 상황에서 데이터를 보완하며 반복 학습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4"/>
          <p:cNvSpPr/>
          <p:nvPr/>
        </p:nvSpPr>
        <p:spPr>
          <a:xfrm>
            <a:off x="914400" y="1438275"/>
            <a:ext cx="10820400" cy="4810125"/>
          </a:xfrm>
          <a:prstGeom prst="roundRect">
            <a:avLst>
              <a:gd fmla="val 2376" name="adj"/>
            </a:avLst>
          </a:prstGeom>
          <a:solidFill>
            <a:srgbClr val="FFFFFF"/>
          </a:solidFill>
          <a:ln cap="flat" cmpd="sng" w="9525">
            <a:solidFill>
              <a:srgbClr val="CDD5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4"/>
          <p:cNvSpPr/>
          <p:nvPr/>
        </p:nvSpPr>
        <p:spPr>
          <a:xfrm>
            <a:off x="1047750" y="1714500"/>
            <a:ext cx="9715500" cy="3143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25"/>
              <a:buFont typeface="Arial"/>
              <a:buNone/>
            </a:pPr>
            <a:r>
              <a:rPr b="1" i="0" lang="en-US" sz="1725" u="none" cap="none" strike="noStrike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문제 해결 과정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4"/>
          <p:cNvSpPr/>
          <p:nvPr/>
        </p:nvSpPr>
        <p:spPr>
          <a:xfrm>
            <a:off x="1047750" y="2352675"/>
            <a:ext cx="66675" cy="66675"/>
          </a:xfrm>
          <a:prstGeom prst="ellipse">
            <a:avLst/>
          </a:prstGeom>
          <a:solidFill>
            <a:srgbClr val="167D9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4"/>
          <p:cNvSpPr/>
          <p:nvPr/>
        </p:nvSpPr>
        <p:spPr>
          <a:xfrm>
            <a:off x="1219200" y="2276475"/>
            <a:ext cx="626745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5"/>
              <a:buFont typeface="Arial"/>
              <a:buNone/>
            </a:pPr>
            <a:r>
              <a:rPr b="1" i="0" lang="en-US" sz="1575" u="none" cap="none" strike="noStrike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초기 객체 인식의 어려움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4"/>
          <p:cNvSpPr/>
          <p:nvPr/>
        </p:nvSpPr>
        <p:spPr>
          <a:xfrm>
            <a:off x="1381125" y="2571750"/>
            <a:ext cx="6029325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5"/>
              <a:buFont typeface="Arial"/>
              <a:buNone/>
            </a:pPr>
            <a:r>
              <a:rPr b="0" i="0" lang="en-US" sz="1425" u="none" cap="none" strike="noStrike">
                <a:solidFill>
                  <a:srgbClr val="435261"/>
                </a:solidFill>
                <a:latin typeface="Nanum Gothic"/>
                <a:ea typeface="Nanum Gothic"/>
                <a:cs typeface="Nanum Gothic"/>
                <a:sym typeface="Nanum Gothic"/>
              </a:rPr>
              <a:t>프로그램 구성과 딥러닝 절차가 생소해 자료 조사와 조언을 병행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4"/>
          <p:cNvSpPr/>
          <p:nvPr/>
        </p:nvSpPr>
        <p:spPr>
          <a:xfrm>
            <a:off x="1047750" y="3333750"/>
            <a:ext cx="66675" cy="66675"/>
          </a:xfrm>
          <a:prstGeom prst="ellipse">
            <a:avLst/>
          </a:prstGeom>
          <a:solidFill>
            <a:srgbClr val="167D9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4"/>
          <p:cNvSpPr/>
          <p:nvPr/>
        </p:nvSpPr>
        <p:spPr>
          <a:xfrm>
            <a:off x="1219200" y="3257550"/>
            <a:ext cx="626745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5"/>
              <a:buFont typeface="Arial"/>
              <a:buNone/>
            </a:pPr>
            <a:r>
              <a:rPr b="1" i="0" lang="en-US" sz="1575" u="none" cap="none" strike="noStrike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학습 조건 보완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p4"/>
          <p:cNvSpPr/>
          <p:nvPr/>
        </p:nvSpPr>
        <p:spPr>
          <a:xfrm>
            <a:off x="1381125" y="3552825"/>
            <a:ext cx="6029325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5"/>
              <a:buFont typeface="Arial"/>
              <a:buNone/>
            </a:pPr>
            <a:r>
              <a:rPr b="0" i="0" lang="en-US" sz="1425" u="none" cap="none" strike="noStrike">
                <a:solidFill>
                  <a:srgbClr val="435261"/>
                </a:solidFill>
                <a:latin typeface="Nanum Gothic"/>
                <a:ea typeface="Nanum Gothic"/>
                <a:cs typeface="Nanum Gothic"/>
                <a:sym typeface="Nanum Gothic"/>
              </a:rPr>
              <a:t>여러 방향의 데이터 증강과 딥러닝 학습을 반복하며 인식 상태 확인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4"/>
          <p:cNvSpPr/>
          <p:nvPr/>
        </p:nvSpPr>
        <p:spPr>
          <a:xfrm>
            <a:off x="1047750" y="4314825"/>
            <a:ext cx="66675" cy="66675"/>
          </a:xfrm>
          <a:prstGeom prst="ellipse">
            <a:avLst/>
          </a:prstGeom>
          <a:solidFill>
            <a:srgbClr val="167D9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Google Shape;171;p4"/>
          <p:cNvSpPr/>
          <p:nvPr/>
        </p:nvSpPr>
        <p:spPr>
          <a:xfrm>
            <a:off x="1219200" y="4238625"/>
            <a:ext cx="626745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5"/>
              <a:buFont typeface="Arial"/>
              <a:buNone/>
            </a:pPr>
            <a:r>
              <a:rPr b="1" i="0" lang="en-US" sz="1575" u="none" cap="none" strike="noStrike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YOLO 객체 분류 인식 수준</a:t>
            </a:r>
            <a:endParaRPr b="0" i="0" sz="1400" u="none" cap="none" strike="noStrike">
              <a:solidFill>
                <a:srgbClr val="12283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" name="Google Shape;172;p4"/>
          <p:cNvSpPr/>
          <p:nvPr/>
        </p:nvSpPr>
        <p:spPr>
          <a:xfrm>
            <a:off x="1381125" y="4533900"/>
            <a:ext cx="6029325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5"/>
              <a:buFont typeface="Arial"/>
              <a:buNone/>
            </a:pPr>
            <a:r>
              <a:rPr b="0" i="0" lang="en-US" sz="1425" u="none" cap="none" strike="noStrike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YOLO 객체 분류: 관찰 기준 약 90%</a:t>
            </a:r>
            <a:endParaRPr b="0" i="0" sz="1400" u="none" cap="none" strike="noStrike">
              <a:solidFill>
                <a:srgbClr val="12283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5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4"/>
          <p:cNvSpPr/>
          <p:nvPr/>
        </p:nvSpPr>
        <p:spPr>
          <a:xfrm>
            <a:off x="8020050" y="2057400"/>
            <a:ext cx="32766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5"/>
              <a:buFont typeface="Arial"/>
              <a:buNone/>
            </a:pPr>
            <a:r>
              <a:rPr b="1" i="0" lang="en-US" sz="1425" u="none" cap="none" strike="noStrike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인식 개선 과정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4"/>
          <p:cNvSpPr/>
          <p:nvPr/>
        </p:nvSpPr>
        <p:spPr>
          <a:xfrm>
            <a:off x="8020050" y="2428875"/>
            <a:ext cx="3276600" cy="590550"/>
          </a:xfrm>
          <a:prstGeom prst="rect">
            <a:avLst/>
          </a:prstGeom>
          <a:solidFill>
            <a:srgbClr val="F0F5F7"/>
          </a:solidFill>
          <a:ln cap="flat" cmpd="sng" w="9525">
            <a:solidFill>
              <a:srgbClr val="C7D8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4"/>
          <p:cNvSpPr/>
          <p:nvPr/>
        </p:nvSpPr>
        <p:spPr>
          <a:xfrm>
            <a:off x="8143875" y="2533650"/>
            <a:ext cx="361950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67D91"/>
                </a:solidFill>
                <a:latin typeface="Nanum Gothic"/>
                <a:ea typeface="Nanum Gothic"/>
                <a:cs typeface="Nanum Gothic"/>
                <a:sym typeface="Nanum Gothic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" name="Google Shape;176;p4"/>
          <p:cNvSpPr/>
          <p:nvPr/>
        </p:nvSpPr>
        <p:spPr>
          <a:xfrm>
            <a:off x="8572500" y="2505075"/>
            <a:ext cx="2628900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5"/>
              <a:buFont typeface="Arial"/>
              <a:buNone/>
            </a:pPr>
            <a:r>
              <a:rPr b="1" i="0" lang="en-US" sz="1425" u="none" cap="none" strike="noStrike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실시간 테스트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Google Shape;177;p4"/>
          <p:cNvSpPr/>
          <p:nvPr/>
        </p:nvSpPr>
        <p:spPr>
          <a:xfrm>
            <a:off x="8572500" y="2752725"/>
            <a:ext cx="2628900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526577"/>
                </a:solidFill>
                <a:latin typeface="Nanum Gothic"/>
                <a:ea typeface="Nanum Gothic"/>
                <a:cs typeface="Nanum Gothic"/>
                <a:sym typeface="Nanum Gothic"/>
              </a:rPr>
              <a:t>객체 인식 상태 확인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4"/>
          <p:cNvSpPr/>
          <p:nvPr/>
        </p:nvSpPr>
        <p:spPr>
          <a:xfrm>
            <a:off x="9629775" y="3019425"/>
            <a:ext cx="19050" cy="133350"/>
          </a:xfrm>
          <a:prstGeom prst="rect">
            <a:avLst/>
          </a:prstGeom>
          <a:solidFill>
            <a:srgbClr val="167D9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4"/>
          <p:cNvSpPr/>
          <p:nvPr/>
        </p:nvSpPr>
        <p:spPr>
          <a:xfrm>
            <a:off x="8020050" y="3152775"/>
            <a:ext cx="3276600" cy="590550"/>
          </a:xfrm>
          <a:prstGeom prst="rect">
            <a:avLst/>
          </a:prstGeom>
          <a:solidFill>
            <a:srgbClr val="F0F5F7"/>
          </a:solidFill>
          <a:ln cap="flat" cmpd="sng" w="9525">
            <a:solidFill>
              <a:srgbClr val="C7D8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4"/>
          <p:cNvSpPr/>
          <p:nvPr/>
        </p:nvSpPr>
        <p:spPr>
          <a:xfrm>
            <a:off x="8143875" y="3257550"/>
            <a:ext cx="361950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67D91"/>
                </a:solidFill>
                <a:latin typeface="Nanum Gothic"/>
                <a:ea typeface="Nanum Gothic"/>
                <a:cs typeface="Nanum Gothic"/>
                <a:sym typeface="Nanum Gothic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4"/>
          <p:cNvSpPr/>
          <p:nvPr/>
        </p:nvSpPr>
        <p:spPr>
          <a:xfrm>
            <a:off x="8572500" y="3228975"/>
            <a:ext cx="2628900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5"/>
              <a:buFont typeface="Arial"/>
              <a:buNone/>
            </a:pPr>
            <a:r>
              <a:rPr b="1" i="0" lang="en-US" sz="1425" u="none" cap="none" strike="noStrike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학습 데이터 보완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4"/>
          <p:cNvSpPr/>
          <p:nvPr/>
        </p:nvSpPr>
        <p:spPr>
          <a:xfrm>
            <a:off x="8572500" y="3476625"/>
            <a:ext cx="2628900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526577"/>
                </a:solidFill>
                <a:latin typeface="Nanum Gothic"/>
                <a:ea typeface="Nanum Gothic"/>
                <a:cs typeface="Nanum Gothic"/>
                <a:sym typeface="Nanum Gothic"/>
              </a:rPr>
              <a:t>촬영 방향과 증강 조건 조정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4"/>
          <p:cNvSpPr/>
          <p:nvPr/>
        </p:nvSpPr>
        <p:spPr>
          <a:xfrm>
            <a:off x="9629775" y="3743325"/>
            <a:ext cx="19050" cy="133350"/>
          </a:xfrm>
          <a:prstGeom prst="rect">
            <a:avLst/>
          </a:prstGeom>
          <a:solidFill>
            <a:srgbClr val="167D9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Google Shape;184;p4"/>
          <p:cNvSpPr/>
          <p:nvPr/>
        </p:nvSpPr>
        <p:spPr>
          <a:xfrm>
            <a:off x="8020050" y="3876675"/>
            <a:ext cx="3276600" cy="590550"/>
          </a:xfrm>
          <a:prstGeom prst="rect">
            <a:avLst/>
          </a:prstGeom>
          <a:solidFill>
            <a:srgbClr val="F0F5F7"/>
          </a:solidFill>
          <a:ln cap="flat" cmpd="sng" w="9525">
            <a:solidFill>
              <a:srgbClr val="C7D8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" name="Google Shape;185;p4"/>
          <p:cNvSpPr/>
          <p:nvPr/>
        </p:nvSpPr>
        <p:spPr>
          <a:xfrm>
            <a:off x="8143875" y="3981450"/>
            <a:ext cx="361950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67D91"/>
                </a:solidFill>
                <a:latin typeface="Nanum Gothic"/>
                <a:ea typeface="Nanum Gothic"/>
                <a:cs typeface="Nanum Gothic"/>
                <a:sym typeface="Nanum Gothic"/>
              </a:rPr>
              <a:t>03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4"/>
          <p:cNvSpPr/>
          <p:nvPr/>
        </p:nvSpPr>
        <p:spPr>
          <a:xfrm>
            <a:off x="8572500" y="3952875"/>
            <a:ext cx="2628900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5"/>
              <a:buFont typeface="Arial"/>
              <a:buNone/>
            </a:pPr>
            <a:r>
              <a:rPr b="1" i="0" lang="en-US" sz="1425" u="none" cap="none" strike="noStrike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모델 재학습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4"/>
          <p:cNvSpPr/>
          <p:nvPr/>
        </p:nvSpPr>
        <p:spPr>
          <a:xfrm>
            <a:off x="8572500" y="4200525"/>
            <a:ext cx="2628900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526577"/>
                </a:solidFill>
                <a:latin typeface="Nanum Gothic"/>
                <a:ea typeface="Nanum Gothic"/>
                <a:cs typeface="Nanum Gothic"/>
                <a:sym typeface="Nanum Gothic"/>
              </a:rPr>
              <a:t>보완한 데이터로 반복 학습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4"/>
          <p:cNvSpPr/>
          <p:nvPr/>
        </p:nvSpPr>
        <p:spPr>
          <a:xfrm>
            <a:off x="9629775" y="4467225"/>
            <a:ext cx="19050" cy="133350"/>
          </a:xfrm>
          <a:prstGeom prst="rect">
            <a:avLst/>
          </a:prstGeom>
          <a:solidFill>
            <a:srgbClr val="167D9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4"/>
          <p:cNvSpPr/>
          <p:nvPr/>
        </p:nvSpPr>
        <p:spPr>
          <a:xfrm>
            <a:off x="8020050" y="4600575"/>
            <a:ext cx="3276600" cy="590550"/>
          </a:xfrm>
          <a:prstGeom prst="rect">
            <a:avLst/>
          </a:prstGeom>
          <a:solidFill>
            <a:srgbClr val="F0F5F7"/>
          </a:solidFill>
          <a:ln cap="flat" cmpd="sng" w="9525">
            <a:solidFill>
              <a:srgbClr val="C7D8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4"/>
          <p:cNvSpPr/>
          <p:nvPr/>
        </p:nvSpPr>
        <p:spPr>
          <a:xfrm>
            <a:off x="8143875" y="4705350"/>
            <a:ext cx="361950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67D91"/>
                </a:solidFill>
                <a:latin typeface="Nanum Gothic"/>
                <a:ea typeface="Nanum Gothic"/>
                <a:cs typeface="Nanum Gothic"/>
                <a:sym typeface="Nanum Gothic"/>
              </a:rPr>
              <a:t>04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4"/>
          <p:cNvSpPr/>
          <p:nvPr/>
        </p:nvSpPr>
        <p:spPr>
          <a:xfrm>
            <a:off x="8572500" y="4676775"/>
            <a:ext cx="2628900" cy="2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5"/>
              <a:buFont typeface="Arial"/>
              <a:buNone/>
            </a:pPr>
            <a:r>
              <a:rPr b="1" i="0" lang="en-US" sz="1425" u="none" cap="none" strike="noStrike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객체별 공급라인 분류</a:t>
            </a:r>
            <a:endParaRPr b="0" i="0" sz="1400" u="none" cap="none" strike="noStrike">
              <a:solidFill>
                <a:srgbClr val="12283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4"/>
          <p:cNvSpPr/>
          <p:nvPr/>
        </p:nvSpPr>
        <p:spPr>
          <a:xfrm>
            <a:off x="8572500" y="4924425"/>
            <a:ext cx="2628900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마지막·재활용 공정에 활용</a:t>
            </a:r>
            <a:endParaRPr b="0" i="0" sz="1400" u="none" cap="none" strike="noStrike">
              <a:solidFill>
                <a:srgbClr val="12283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4"/>
          <p:cNvSpPr/>
          <p:nvPr/>
        </p:nvSpPr>
        <p:spPr>
          <a:xfrm>
            <a:off x="1047750" y="5505450"/>
            <a:ext cx="161925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5"/>
              <a:buFont typeface="Arial"/>
              <a:buNone/>
            </a:pPr>
            <a:r>
              <a:rPr b="1" i="0" lang="en-US" sz="1425" u="none" cap="none" strike="noStrike">
                <a:solidFill>
                  <a:srgbClr val="171717"/>
                </a:solidFill>
                <a:latin typeface="Nanum Gothic"/>
                <a:ea typeface="Nanum Gothic"/>
                <a:cs typeface="Nanum Gothic"/>
                <a:sym typeface="Nanum Gothic"/>
              </a:rPr>
              <a:t>사용 기술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4"/>
          <p:cNvSpPr/>
          <p:nvPr/>
        </p:nvSpPr>
        <p:spPr>
          <a:xfrm>
            <a:off x="1047750" y="5848350"/>
            <a:ext cx="1314450" cy="266700"/>
          </a:xfrm>
          <a:prstGeom prst="roundRect">
            <a:avLst>
              <a:gd fmla="val 35714" name="adj"/>
            </a:avLst>
          </a:prstGeom>
          <a:solidFill>
            <a:srgbClr val="E8EE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4"/>
          <p:cNvSpPr/>
          <p:nvPr/>
        </p:nvSpPr>
        <p:spPr>
          <a:xfrm>
            <a:off x="1123950" y="5886450"/>
            <a:ext cx="116205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263E54"/>
                </a:solidFill>
                <a:latin typeface="Nanum Gothic"/>
                <a:ea typeface="Nanum Gothic"/>
                <a:cs typeface="Nanum Gothic"/>
                <a:sym typeface="Nanum Gothic"/>
              </a:rPr>
              <a:t>YOLO11n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4"/>
          <p:cNvSpPr/>
          <p:nvPr/>
        </p:nvSpPr>
        <p:spPr>
          <a:xfrm>
            <a:off x="2447925" y="5848350"/>
            <a:ext cx="1314450" cy="266700"/>
          </a:xfrm>
          <a:prstGeom prst="roundRect">
            <a:avLst>
              <a:gd fmla="val 35714" name="adj"/>
            </a:avLst>
          </a:prstGeom>
          <a:solidFill>
            <a:srgbClr val="E8EE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4"/>
          <p:cNvSpPr/>
          <p:nvPr/>
        </p:nvSpPr>
        <p:spPr>
          <a:xfrm>
            <a:off x="2524125" y="5886450"/>
            <a:ext cx="116205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263E54"/>
                </a:solidFill>
                <a:latin typeface="Nanum Gothic"/>
                <a:ea typeface="Nanum Gothic"/>
                <a:cs typeface="Nanum Gothic"/>
                <a:sym typeface="Nanum Gothic"/>
              </a:rPr>
              <a:t>PyTorch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" name="Google Shape;198;p4"/>
          <p:cNvSpPr/>
          <p:nvPr/>
        </p:nvSpPr>
        <p:spPr>
          <a:xfrm>
            <a:off x="3848100" y="5848350"/>
            <a:ext cx="1181100" cy="266700"/>
          </a:xfrm>
          <a:prstGeom prst="roundRect">
            <a:avLst>
              <a:gd fmla="val 35714" name="adj"/>
            </a:avLst>
          </a:prstGeom>
          <a:solidFill>
            <a:srgbClr val="E8EE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4"/>
          <p:cNvSpPr/>
          <p:nvPr/>
        </p:nvSpPr>
        <p:spPr>
          <a:xfrm>
            <a:off x="3924300" y="5886450"/>
            <a:ext cx="10287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263E54"/>
                </a:solidFill>
                <a:latin typeface="Nanum Gothic"/>
                <a:ea typeface="Nanum Gothic"/>
                <a:cs typeface="Nanum Gothic"/>
                <a:sym typeface="Nanum Gothic"/>
              </a:rPr>
              <a:t>데이터 증강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4"/>
          <p:cNvSpPr/>
          <p:nvPr/>
        </p:nvSpPr>
        <p:spPr>
          <a:xfrm>
            <a:off x="5114925" y="5848350"/>
            <a:ext cx="1314450" cy="266700"/>
          </a:xfrm>
          <a:prstGeom prst="roundRect">
            <a:avLst>
              <a:gd fmla="val 35714" name="adj"/>
            </a:avLst>
          </a:prstGeom>
          <a:solidFill>
            <a:srgbClr val="E8EE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4"/>
          <p:cNvSpPr/>
          <p:nvPr/>
        </p:nvSpPr>
        <p:spPr>
          <a:xfrm>
            <a:off x="5191125" y="5886450"/>
            <a:ext cx="116205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263E54"/>
                </a:solidFill>
                <a:latin typeface="Nanum Gothic"/>
                <a:ea typeface="Nanum Gothic"/>
                <a:cs typeface="Nanum Gothic"/>
                <a:sym typeface="Nanum Gothic"/>
              </a:rPr>
              <a:t>실시간 테스트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4"/>
          <p:cNvSpPr/>
          <p:nvPr/>
        </p:nvSpPr>
        <p:spPr>
          <a:xfrm>
            <a:off x="11334750" y="6505575"/>
            <a:ext cx="333375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99999"/>
                </a:solidFill>
                <a:latin typeface="Nanum Gothic"/>
                <a:ea typeface="Nanum Gothic"/>
                <a:cs typeface="Nanum Gothic"/>
                <a:sym typeface="Nanum Gothic"/>
              </a:rPr>
              <a:t>04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5"/>
          <p:cNvSpPr/>
          <p:nvPr/>
        </p:nvSpPr>
        <p:spPr>
          <a:xfrm>
            <a:off x="685800" y="257175"/>
            <a:ext cx="10820400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75"/>
              <a:buFont typeface="Arial"/>
              <a:buNone/>
            </a:pPr>
            <a:r>
              <a:rPr b="1" i="0" lang="en-US" sz="3075" u="none" cap="none" strike="noStrike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시트 검사 방식 개선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" name="Google Shape;209;p5"/>
          <p:cNvSpPr/>
          <p:nvPr/>
        </p:nvSpPr>
        <p:spPr>
          <a:xfrm>
            <a:off x="685800" y="876300"/>
            <a:ext cx="10820400" cy="333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정지 상태의 검사 조건을 활용해 색상과 픽셀 비율로 보완</a:t>
            </a:r>
            <a:endParaRPr b="0" i="0" sz="1400" u="none" cap="none" strike="noStrike">
              <a:solidFill>
                <a:srgbClr val="12283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5"/>
          <p:cNvSpPr/>
          <p:nvPr/>
        </p:nvSpPr>
        <p:spPr>
          <a:xfrm>
            <a:off x="892249" y="1438275"/>
            <a:ext cx="10820400" cy="4810200"/>
          </a:xfrm>
          <a:prstGeom prst="roundRect">
            <a:avLst>
              <a:gd fmla="val 2376" name="adj"/>
            </a:avLst>
          </a:prstGeom>
          <a:solidFill>
            <a:srgbClr val="FFFFFF"/>
          </a:solidFill>
          <a:ln cap="flat" cmpd="sng" w="9525">
            <a:solidFill>
              <a:srgbClr val="CDD5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" name="Google Shape;211;p5"/>
          <p:cNvSpPr/>
          <p:nvPr/>
        </p:nvSpPr>
        <p:spPr>
          <a:xfrm>
            <a:off x="1047750" y="1714500"/>
            <a:ext cx="9715500" cy="3143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25"/>
              <a:buFont typeface="Arial"/>
              <a:buNone/>
            </a:pPr>
            <a:r>
              <a:rPr b="1" i="0" lang="en-US" sz="1725" u="none" cap="none" strike="noStrike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문제와 해결 방법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5"/>
          <p:cNvSpPr/>
          <p:nvPr/>
        </p:nvSpPr>
        <p:spPr>
          <a:xfrm>
            <a:off x="1047750" y="2352675"/>
            <a:ext cx="66675" cy="66675"/>
          </a:xfrm>
          <a:prstGeom prst="ellipse">
            <a:avLst/>
          </a:prstGeom>
          <a:solidFill>
            <a:srgbClr val="167D9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5"/>
          <p:cNvSpPr/>
          <p:nvPr/>
        </p:nvSpPr>
        <p:spPr>
          <a:xfrm>
            <a:off x="1219200" y="2276475"/>
            <a:ext cx="626745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5"/>
              <a:buFont typeface="Arial"/>
              <a:buNone/>
            </a:pPr>
            <a:r>
              <a:rPr b="1" i="0" lang="en-US" sz="1575" u="none" cap="none" strike="noStrike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근접 객체의 인식 혼동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5"/>
          <p:cNvSpPr/>
          <p:nvPr/>
        </p:nvSpPr>
        <p:spPr>
          <a:xfrm>
            <a:off x="1381125" y="2571750"/>
            <a:ext cx="6029325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5"/>
              <a:buFont typeface="Arial"/>
              <a:buNone/>
            </a:pPr>
            <a:r>
              <a:rPr b="0" i="0" lang="en-US" sz="1425" u="none" cap="none" strike="noStrike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마지막 검사라인에서 시트가 밀착해 객체 구분이 어려움</a:t>
            </a:r>
            <a:endParaRPr b="0" i="0" sz="1400" u="none" cap="none" strike="noStrike">
              <a:solidFill>
                <a:srgbClr val="12283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5"/>
          <p:cNvSpPr/>
          <p:nvPr/>
        </p:nvSpPr>
        <p:spPr>
          <a:xfrm>
            <a:off x="1047750" y="3333750"/>
            <a:ext cx="66675" cy="66675"/>
          </a:xfrm>
          <a:prstGeom prst="ellipse">
            <a:avLst/>
          </a:prstGeom>
          <a:solidFill>
            <a:srgbClr val="167D9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5"/>
          <p:cNvSpPr/>
          <p:nvPr/>
        </p:nvSpPr>
        <p:spPr>
          <a:xfrm>
            <a:off x="1219200" y="3257550"/>
            <a:ext cx="626745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5"/>
              <a:buFont typeface="Arial"/>
              <a:buNone/>
            </a:pPr>
            <a:r>
              <a:rPr b="1" i="0" lang="en-US" sz="1575" u="none" cap="none" strike="noStrike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검사영역 분리 후 재검토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" name="Google Shape;217;p5"/>
          <p:cNvSpPr/>
          <p:nvPr/>
        </p:nvSpPr>
        <p:spPr>
          <a:xfrm>
            <a:off x="1381125" y="3552825"/>
            <a:ext cx="6029325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5"/>
              <a:buFont typeface="Arial"/>
              <a:buNone/>
            </a:pPr>
            <a:r>
              <a:rPr b="0" i="0" lang="en-US" sz="1425" u="none" cap="none" strike="noStrike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ROI 분리만으로 구분이 어려워 정지 상태에서 색상 검출 적용</a:t>
            </a:r>
            <a:endParaRPr b="0" i="0" sz="1400" u="none" cap="none" strike="noStrike">
              <a:solidFill>
                <a:srgbClr val="12283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" name="Google Shape;218;p5"/>
          <p:cNvSpPr/>
          <p:nvPr/>
        </p:nvSpPr>
        <p:spPr>
          <a:xfrm>
            <a:off x="1047750" y="4314825"/>
            <a:ext cx="66675" cy="66675"/>
          </a:xfrm>
          <a:prstGeom prst="ellipse">
            <a:avLst/>
          </a:prstGeom>
          <a:solidFill>
            <a:srgbClr val="167D9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" name="Google Shape;219;p5"/>
          <p:cNvSpPr/>
          <p:nvPr/>
        </p:nvSpPr>
        <p:spPr>
          <a:xfrm>
            <a:off x="1219200" y="4238625"/>
            <a:ext cx="626745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5"/>
              <a:buFont typeface="Arial"/>
              <a:buNone/>
            </a:pPr>
            <a:r>
              <a:rPr b="1" i="0" lang="en-US" sz="1575" u="none" cap="none" strike="noStrike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조명·그림자 영향 보완</a:t>
            </a:r>
            <a:endParaRPr b="0" i="0" sz="1400" u="none" cap="none" strike="noStrike">
              <a:solidFill>
                <a:srgbClr val="12283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5"/>
          <p:cNvSpPr/>
          <p:nvPr/>
        </p:nvSpPr>
        <p:spPr>
          <a:xfrm>
            <a:off x="1381125" y="4533900"/>
            <a:ext cx="6029325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5"/>
              <a:buFont typeface="Arial"/>
              <a:buNone/>
            </a:pPr>
            <a:r>
              <a:rPr b="0" i="0" lang="en-US" sz="1425" u="none" cap="none" strike="noStrike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개방된 라인의 그림자로 색상 구분이 모호해짐</a:t>
            </a:r>
            <a:endParaRPr b="0" i="0" sz="1400" u="none" cap="none" strike="noStrike">
              <a:solidFill>
                <a:srgbClr val="12283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5"/>
              <a:buFont typeface="Arial"/>
              <a:buNone/>
            </a:pPr>
            <a:r>
              <a:rPr b="0" i="0" lang="en-US" sz="1425" u="none" cap="none" strike="noStrike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색상 검출 결과에 픽셀 비율 기준을 지정해 제품 유무 판정</a:t>
            </a:r>
            <a:endParaRPr b="0" i="0" sz="1400" u="none" cap="none" strike="noStrike">
              <a:solidFill>
                <a:srgbClr val="12283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21" name="Google Shape;221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55100" y="1714500"/>
            <a:ext cx="1800001" cy="144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5"/>
          <p:cNvSpPr/>
          <p:nvPr/>
        </p:nvSpPr>
        <p:spPr>
          <a:xfrm>
            <a:off x="6307288" y="3244150"/>
            <a:ext cx="3495600" cy="21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57585"/>
                </a:solidFill>
                <a:latin typeface="Nanum Gothic"/>
                <a:ea typeface="Nanum Gothic"/>
                <a:cs typeface="Nanum Gothic"/>
                <a:sym typeface="Nanum Gothic"/>
              </a:rPr>
              <a:t>시트 색상 검사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" name="Google Shape;223;p5"/>
          <p:cNvSpPr/>
          <p:nvPr/>
        </p:nvSpPr>
        <p:spPr>
          <a:xfrm>
            <a:off x="1047750" y="5505450"/>
            <a:ext cx="161925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5"/>
              <a:buFont typeface="Arial"/>
              <a:buNone/>
            </a:pPr>
            <a:r>
              <a:rPr b="1" i="0" lang="en-US" sz="1425" u="none" cap="none" strike="noStrike">
                <a:solidFill>
                  <a:srgbClr val="171717"/>
                </a:solidFill>
                <a:latin typeface="Nanum Gothic"/>
                <a:ea typeface="Nanum Gothic"/>
                <a:cs typeface="Nanum Gothic"/>
                <a:sym typeface="Nanum Gothic"/>
              </a:rPr>
              <a:t>사용 기술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" name="Google Shape;224;p5"/>
          <p:cNvSpPr/>
          <p:nvPr/>
        </p:nvSpPr>
        <p:spPr>
          <a:xfrm>
            <a:off x="1047750" y="5848350"/>
            <a:ext cx="1181100" cy="266700"/>
          </a:xfrm>
          <a:prstGeom prst="roundRect">
            <a:avLst>
              <a:gd fmla="val 35714" name="adj"/>
            </a:avLst>
          </a:prstGeom>
          <a:solidFill>
            <a:srgbClr val="E8EE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5"/>
          <p:cNvSpPr/>
          <p:nvPr/>
        </p:nvSpPr>
        <p:spPr>
          <a:xfrm>
            <a:off x="1123950" y="5886450"/>
            <a:ext cx="10287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263E54"/>
                </a:solidFill>
                <a:latin typeface="Nanum Gothic"/>
                <a:ea typeface="Nanum Gothic"/>
                <a:cs typeface="Nanum Gothic"/>
                <a:sym typeface="Nanum Gothic"/>
              </a:rPr>
              <a:t>OpenCV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5"/>
          <p:cNvSpPr/>
          <p:nvPr/>
        </p:nvSpPr>
        <p:spPr>
          <a:xfrm>
            <a:off x="2314575" y="5848350"/>
            <a:ext cx="781050" cy="266700"/>
          </a:xfrm>
          <a:prstGeom prst="roundRect">
            <a:avLst>
              <a:gd fmla="val 35714" name="adj"/>
            </a:avLst>
          </a:prstGeom>
          <a:solidFill>
            <a:srgbClr val="E8EE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5"/>
          <p:cNvSpPr/>
          <p:nvPr/>
        </p:nvSpPr>
        <p:spPr>
          <a:xfrm>
            <a:off x="2390775" y="5886450"/>
            <a:ext cx="62865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263E54"/>
                </a:solidFill>
                <a:latin typeface="Nanum Gothic"/>
                <a:ea typeface="Nanum Gothic"/>
                <a:cs typeface="Nanum Gothic"/>
                <a:sym typeface="Nanum Gothic"/>
              </a:rPr>
              <a:t>ROI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" name="Google Shape;228;p5"/>
          <p:cNvSpPr/>
          <p:nvPr/>
        </p:nvSpPr>
        <p:spPr>
          <a:xfrm>
            <a:off x="3181350" y="5848350"/>
            <a:ext cx="1447800" cy="266700"/>
          </a:xfrm>
          <a:prstGeom prst="roundRect">
            <a:avLst>
              <a:gd fmla="val 35714" name="adj"/>
            </a:avLst>
          </a:prstGeom>
          <a:solidFill>
            <a:srgbClr val="E8EE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" name="Google Shape;229;p5"/>
          <p:cNvSpPr/>
          <p:nvPr/>
        </p:nvSpPr>
        <p:spPr>
          <a:xfrm>
            <a:off x="3257550" y="5886450"/>
            <a:ext cx="12954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263E54"/>
                </a:solidFill>
                <a:latin typeface="Nanum Gothic"/>
                <a:ea typeface="Nanum Gothic"/>
                <a:cs typeface="Nanum Gothic"/>
                <a:sym typeface="Nanum Gothic"/>
              </a:rPr>
              <a:t>색상 픽셀 비율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" name="Google Shape;230;p5"/>
          <p:cNvSpPr/>
          <p:nvPr/>
        </p:nvSpPr>
        <p:spPr>
          <a:xfrm>
            <a:off x="4714875" y="5848350"/>
            <a:ext cx="1447800" cy="266700"/>
          </a:xfrm>
          <a:prstGeom prst="roundRect">
            <a:avLst>
              <a:gd fmla="val 35714" name="adj"/>
            </a:avLst>
          </a:prstGeom>
          <a:solidFill>
            <a:srgbClr val="E8EE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" name="Google Shape;231;p5"/>
          <p:cNvSpPr/>
          <p:nvPr/>
        </p:nvSpPr>
        <p:spPr>
          <a:xfrm>
            <a:off x="4791075" y="5886450"/>
            <a:ext cx="12954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263E54"/>
                </a:solidFill>
                <a:latin typeface="Nanum Gothic"/>
                <a:ea typeface="Nanum Gothic"/>
                <a:cs typeface="Nanum Gothic"/>
                <a:sym typeface="Nanum Gothic"/>
              </a:rPr>
              <a:t>제품 유무 검사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5"/>
          <p:cNvSpPr/>
          <p:nvPr/>
        </p:nvSpPr>
        <p:spPr>
          <a:xfrm>
            <a:off x="11334750" y="6505575"/>
            <a:ext cx="333375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99999"/>
                </a:solidFill>
                <a:latin typeface="Nanum Gothic"/>
                <a:ea typeface="Nanum Gothic"/>
                <a:cs typeface="Nanum Gothic"/>
                <a:sym typeface="Nanum Gothic"/>
              </a:rPr>
              <a:t>05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33" name="Google Shape;233;p5" title="image(6)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645035" y="1689825"/>
            <a:ext cx="1800001" cy="144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5"/>
          <p:cNvSpPr/>
          <p:nvPr/>
        </p:nvSpPr>
        <p:spPr>
          <a:xfrm>
            <a:off x="8808310" y="3248161"/>
            <a:ext cx="3495600" cy="21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57585"/>
                </a:solidFill>
                <a:latin typeface="Nanum Gothic"/>
                <a:ea typeface="Nanum Gothic"/>
                <a:cs typeface="Nanum Gothic"/>
                <a:sym typeface="Nanum Gothic"/>
              </a:rPr>
              <a:t>시트 인식 혼동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35" name="Google Shape;235;p5" title="Capture_2026_0928_113611.png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155100" y="3821050"/>
            <a:ext cx="1799999" cy="1439999"/>
          </a:xfrm>
          <a:prstGeom prst="rect">
            <a:avLst/>
          </a:prstGeom>
          <a:noFill/>
          <a:ln>
            <a:noFill/>
          </a:ln>
        </p:spPr>
      </p:pic>
      <p:sp>
        <p:nvSpPr>
          <p:cNvPr id="236" name="Google Shape;236;p5"/>
          <p:cNvSpPr/>
          <p:nvPr/>
        </p:nvSpPr>
        <p:spPr>
          <a:xfrm>
            <a:off x="6348934" y="5458170"/>
            <a:ext cx="3495600" cy="21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ROI별 색상·픽셀 비율 판정</a:t>
            </a:r>
            <a:endParaRPr b="0" i="0" sz="1400" u="none" cap="none" strike="noStrike">
              <a:solidFill>
                <a:srgbClr val="12283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37" name="Google Shape;237;p5" title="Capture_2026_0929_113540.png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656100" y="3821058"/>
            <a:ext cx="1799999" cy="14400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DD5DE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38" name="Google Shape;238;p5"/>
          <p:cNvSpPr/>
          <p:nvPr/>
        </p:nvSpPr>
        <p:spPr>
          <a:xfrm>
            <a:off x="8816121" y="5458170"/>
            <a:ext cx="3495600" cy="21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57585"/>
                </a:solidFill>
                <a:latin typeface="Nanum Gothic"/>
                <a:ea typeface="Nanum Gothic"/>
                <a:cs typeface="Nanum Gothic"/>
                <a:sym typeface="Nanum Gothic"/>
              </a:rPr>
              <a:t>시트 검출과 미검출 결과값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6"/>
          <p:cNvSpPr/>
          <p:nvPr/>
        </p:nvSpPr>
        <p:spPr>
          <a:xfrm>
            <a:off x="685800" y="257175"/>
            <a:ext cx="10820400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75"/>
              <a:buFont typeface="Arial"/>
              <a:buNone/>
            </a:pPr>
            <a:r>
              <a:rPr b="1" i="0" lang="en-US" sz="3075" u="none" cap="none" strike="noStrike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카메라 식별과 연결 문제 해결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5" name="Google Shape;245;p6"/>
          <p:cNvSpPr/>
          <p:nvPr/>
        </p:nvSpPr>
        <p:spPr>
          <a:xfrm>
            <a:off x="685800" y="876300"/>
            <a:ext cx="1082040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7C7C7C"/>
                </a:solidFill>
                <a:latin typeface="Nanum Gothic"/>
                <a:ea typeface="Nanum Gothic"/>
                <a:cs typeface="Nanum Gothic"/>
                <a:sym typeface="Nanum Gothic"/>
              </a:rPr>
              <a:t>연결 시 카메라 번호가 달라지는 문제를 Instance ID로 대응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6"/>
          <p:cNvSpPr/>
          <p:nvPr/>
        </p:nvSpPr>
        <p:spPr>
          <a:xfrm>
            <a:off x="914400" y="1438275"/>
            <a:ext cx="10820400" cy="4810125"/>
          </a:xfrm>
          <a:prstGeom prst="roundRect">
            <a:avLst>
              <a:gd fmla="val 2376" name="adj"/>
            </a:avLst>
          </a:prstGeom>
          <a:solidFill>
            <a:srgbClr val="FFFFFF"/>
          </a:solidFill>
          <a:ln cap="flat" cmpd="sng" w="9525">
            <a:solidFill>
              <a:srgbClr val="CDD5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7" name="Google Shape;247;p6"/>
          <p:cNvSpPr/>
          <p:nvPr/>
        </p:nvSpPr>
        <p:spPr>
          <a:xfrm>
            <a:off x="1047750" y="1714500"/>
            <a:ext cx="9715500" cy="3143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25"/>
              <a:buFont typeface="Arial"/>
              <a:buNone/>
            </a:pPr>
            <a:r>
              <a:rPr b="1" i="0" lang="en-US" sz="1725" u="none" cap="none" strike="noStrike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문제 해결 과정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8" name="Google Shape;248;p6"/>
          <p:cNvSpPr/>
          <p:nvPr/>
        </p:nvSpPr>
        <p:spPr>
          <a:xfrm>
            <a:off x="1047750" y="2352675"/>
            <a:ext cx="66675" cy="66675"/>
          </a:xfrm>
          <a:prstGeom prst="ellipse">
            <a:avLst/>
          </a:prstGeom>
          <a:solidFill>
            <a:srgbClr val="167D9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p6"/>
          <p:cNvSpPr/>
          <p:nvPr/>
        </p:nvSpPr>
        <p:spPr>
          <a:xfrm>
            <a:off x="1219200" y="2276475"/>
            <a:ext cx="626745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5"/>
              <a:buFont typeface="Arial"/>
              <a:buNone/>
            </a:pPr>
            <a:r>
              <a:rPr b="1" i="0" lang="en-US" sz="1575" u="none" cap="none" strike="noStrike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카메라 번호 변경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6"/>
          <p:cNvSpPr/>
          <p:nvPr/>
        </p:nvSpPr>
        <p:spPr>
          <a:xfrm>
            <a:off x="1381125" y="2571750"/>
            <a:ext cx="6029325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5"/>
              <a:buFont typeface="Arial"/>
              <a:buNone/>
            </a:pPr>
            <a:r>
              <a:rPr b="0" i="0" lang="en-US" sz="1425" u="none" cap="none" strike="noStrike">
                <a:solidFill>
                  <a:srgbClr val="435261"/>
                </a:solidFill>
                <a:latin typeface="Nanum Gothic"/>
                <a:ea typeface="Nanum Gothic"/>
                <a:cs typeface="Nanum Gothic"/>
                <a:sym typeface="Nanum Gothic"/>
              </a:rPr>
              <a:t>비전카메라 연결 시 번호가 바뀌어 검사 대상과 영상의 대응이 달라짐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p6"/>
          <p:cNvSpPr/>
          <p:nvPr/>
        </p:nvSpPr>
        <p:spPr>
          <a:xfrm>
            <a:off x="1047750" y="3333750"/>
            <a:ext cx="66675" cy="66675"/>
          </a:xfrm>
          <a:prstGeom prst="ellipse">
            <a:avLst/>
          </a:prstGeom>
          <a:solidFill>
            <a:srgbClr val="167D9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6"/>
          <p:cNvSpPr/>
          <p:nvPr/>
        </p:nvSpPr>
        <p:spPr>
          <a:xfrm>
            <a:off x="1219200" y="3257550"/>
            <a:ext cx="626745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5"/>
              <a:buFont typeface="Arial"/>
              <a:buNone/>
            </a:pPr>
            <a:r>
              <a:rPr b="1" i="0" lang="en-US" sz="1575" u="none" cap="none" strike="noStrike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장치 식별 방식 적용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p6"/>
          <p:cNvSpPr/>
          <p:nvPr/>
        </p:nvSpPr>
        <p:spPr>
          <a:xfrm>
            <a:off x="1381125" y="3552825"/>
            <a:ext cx="6029325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5"/>
              <a:buFont typeface="Arial"/>
              <a:buNone/>
            </a:pPr>
            <a:r>
              <a:rPr b="0" i="0" lang="en-US" sz="1425" u="none" cap="none" strike="noStrike">
                <a:solidFill>
                  <a:srgbClr val="435261"/>
                </a:solidFill>
                <a:latin typeface="Nanum Gothic"/>
                <a:ea typeface="Nanum Gothic"/>
                <a:cs typeface="Nanum Gothic"/>
                <a:sym typeface="Nanum Gothic"/>
              </a:rPr>
              <a:t>단순 번호 대신 카메라 Instance ID를 기준으로 장치 식별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6"/>
          <p:cNvSpPr/>
          <p:nvPr/>
        </p:nvSpPr>
        <p:spPr>
          <a:xfrm>
            <a:off x="1047750" y="4314825"/>
            <a:ext cx="66675" cy="66675"/>
          </a:xfrm>
          <a:prstGeom prst="ellipse">
            <a:avLst/>
          </a:prstGeom>
          <a:solidFill>
            <a:srgbClr val="167D9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5" name="Google Shape;255;p6"/>
          <p:cNvSpPr/>
          <p:nvPr/>
        </p:nvSpPr>
        <p:spPr>
          <a:xfrm>
            <a:off x="1219200" y="4238625"/>
            <a:ext cx="626745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5"/>
              <a:buFont typeface="Arial"/>
              <a:buNone/>
            </a:pPr>
            <a:r>
              <a:rPr b="1" i="0" lang="en-US" sz="1575" u="none" cap="none" strike="noStrike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검사 카메라 매칭 성공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6" name="Google Shape;256;p6"/>
          <p:cNvSpPr/>
          <p:nvPr/>
        </p:nvSpPr>
        <p:spPr>
          <a:xfrm>
            <a:off x="1381125" y="4533900"/>
            <a:ext cx="6029325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5"/>
              <a:buFont typeface="Arial"/>
              <a:buNone/>
            </a:pPr>
            <a:r>
              <a:rPr b="0" i="0" lang="en-US" sz="1425" u="none" cap="none" strike="noStrike">
                <a:solidFill>
                  <a:srgbClr val="435261"/>
                </a:solidFill>
                <a:latin typeface="Nanum Gothic"/>
                <a:ea typeface="Nanum Gothic"/>
                <a:cs typeface="Nanum Gothic"/>
                <a:sym typeface="Nanum Gothic"/>
              </a:rPr>
              <a:t>대상 카메라를 식별해 검사 화면에 연결하는 방식 적용 성공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5"/>
              <a:buFont typeface="Arial"/>
              <a:buNone/>
            </a:pPr>
            <a:r>
              <a:rPr b="0" i="0" lang="en-US" sz="1425" u="none" cap="none" strike="noStrike">
                <a:solidFill>
                  <a:srgbClr val="435261"/>
                </a:solidFill>
                <a:latin typeface="Nanum Gothic"/>
                <a:ea typeface="Nanum Gothic"/>
                <a:cs typeface="Nanum Gothic"/>
                <a:sym typeface="Nanum Gothic"/>
              </a:rPr>
              <a:t>재연결·재부팅 조건별 반복 검증은 보완 계획에 포함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6"/>
          <p:cNvSpPr/>
          <p:nvPr/>
        </p:nvSpPr>
        <p:spPr>
          <a:xfrm>
            <a:off x="8020050" y="2057400"/>
            <a:ext cx="32766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5"/>
              <a:buFont typeface="Arial"/>
              <a:buNone/>
            </a:pPr>
            <a:r>
              <a:rPr b="1" i="0" lang="en-US" sz="1425" u="none" cap="none" strike="noStrike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카메라 연결 방식 비교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6"/>
          <p:cNvSpPr/>
          <p:nvPr/>
        </p:nvSpPr>
        <p:spPr>
          <a:xfrm>
            <a:off x="8020050" y="2524125"/>
            <a:ext cx="327660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526577"/>
                </a:solidFill>
                <a:latin typeface="Nanum Gothic"/>
                <a:ea typeface="Nanum Gothic"/>
                <a:cs typeface="Nanum Gothic"/>
                <a:sym typeface="Nanum Gothic"/>
              </a:rPr>
              <a:t>번호로 연결할 때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6"/>
          <p:cNvSpPr/>
          <p:nvPr/>
        </p:nvSpPr>
        <p:spPr>
          <a:xfrm>
            <a:off x="8020050" y="2905125"/>
            <a:ext cx="3276600" cy="590550"/>
          </a:xfrm>
          <a:prstGeom prst="rect">
            <a:avLst/>
          </a:prstGeom>
          <a:solidFill>
            <a:srgbClr val="F0F5F7"/>
          </a:solidFill>
          <a:ln cap="flat" cmpd="sng" w="9525">
            <a:solidFill>
              <a:srgbClr val="C7D8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6"/>
          <p:cNvSpPr/>
          <p:nvPr/>
        </p:nvSpPr>
        <p:spPr>
          <a:xfrm>
            <a:off x="8143875" y="3009900"/>
            <a:ext cx="361950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67D91"/>
                </a:solidFill>
                <a:latin typeface="Nanum Gothic"/>
                <a:ea typeface="Nanum Gothic"/>
                <a:cs typeface="Nanum Gothic"/>
                <a:sym typeface="Nanum Gothic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6"/>
          <p:cNvSpPr/>
          <p:nvPr/>
        </p:nvSpPr>
        <p:spPr>
          <a:xfrm>
            <a:off x="8572500" y="2981325"/>
            <a:ext cx="2628900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5"/>
              <a:buFont typeface="Arial"/>
              <a:buNone/>
            </a:pPr>
            <a:r>
              <a:rPr b="1" i="0" lang="en-US" sz="1425" u="none" cap="none" strike="noStrike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카메라 번호 변경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" name="Google Shape;262;p6"/>
          <p:cNvSpPr/>
          <p:nvPr/>
        </p:nvSpPr>
        <p:spPr>
          <a:xfrm>
            <a:off x="8572500" y="3228975"/>
            <a:ext cx="2628900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526577"/>
                </a:solidFill>
                <a:latin typeface="Nanum Gothic"/>
                <a:ea typeface="Nanum Gothic"/>
                <a:cs typeface="Nanum Gothic"/>
                <a:sym typeface="Nanum Gothic"/>
              </a:rPr>
              <a:t>연결 대상이 달라지는 문제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" name="Google Shape;263;p6"/>
          <p:cNvSpPr/>
          <p:nvPr/>
        </p:nvSpPr>
        <p:spPr>
          <a:xfrm>
            <a:off x="8020050" y="3800475"/>
            <a:ext cx="327660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67D91"/>
                </a:solidFill>
                <a:latin typeface="Nanum Gothic"/>
                <a:ea typeface="Nanum Gothic"/>
                <a:cs typeface="Nanum Gothic"/>
                <a:sym typeface="Nanum Gothic"/>
              </a:rPr>
              <a:t>Instance ID 적용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6"/>
          <p:cNvSpPr/>
          <p:nvPr/>
        </p:nvSpPr>
        <p:spPr>
          <a:xfrm>
            <a:off x="8020050" y="4171950"/>
            <a:ext cx="3276600" cy="590550"/>
          </a:xfrm>
          <a:prstGeom prst="rect">
            <a:avLst/>
          </a:prstGeom>
          <a:solidFill>
            <a:srgbClr val="F0F5F7"/>
          </a:solidFill>
          <a:ln cap="flat" cmpd="sng" w="9525">
            <a:solidFill>
              <a:srgbClr val="C7D8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5" name="Google Shape;265;p6"/>
          <p:cNvSpPr/>
          <p:nvPr/>
        </p:nvSpPr>
        <p:spPr>
          <a:xfrm>
            <a:off x="8143875" y="4276725"/>
            <a:ext cx="361950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67D91"/>
                </a:solidFill>
                <a:latin typeface="Nanum Gothic"/>
                <a:ea typeface="Nanum Gothic"/>
                <a:cs typeface="Nanum Gothic"/>
                <a:sym typeface="Nanum Gothic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6" name="Google Shape;266;p6"/>
          <p:cNvSpPr/>
          <p:nvPr/>
        </p:nvSpPr>
        <p:spPr>
          <a:xfrm>
            <a:off x="8572500" y="4248150"/>
            <a:ext cx="2628900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5"/>
              <a:buFont typeface="Arial"/>
              <a:buNone/>
            </a:pPr>
            <a:r>
              <a:rPr b="1" i="0" lang="en-US" sz="1425" u="none" cap="none" strike="noStrike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장치 식별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7" name="Google Shape;267;p6"/>
          <p:cNvSpPr/>
          <p:nvPr/>
        </p:nvSpPr>
        <p:spPr>
          <a:xfrm>
            <a:off x="8572500" y="4495800"/>
            <a:ext cx="2628900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526577"/>
                </a:solidFill>
                <a:latin typeface="Nanum Gothic"/>
                <a:ea typeface="Nanum Gothic"/>
                <a:cs typeface="Nanum Gothic"/>
                <a:sym typeface="Nanum Gothic"/>
              </a:rPr>
              <a:t>Instance ID로 대상 확인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8" name="Google Shape;268;p6"/>
          <p:cNvSpPr/>
          <p:nvPr/>
        </p:nvSpPr>
        <p:spPr>
          <a:xfrm>
            <a:off x="8020050" y="4895850"/>
            <a:ext cx="3276600" cy="590550"/>
          </a:xfrm>
          <a:prstGeom prst="rect">
            <a:avLst/>
          </a:prstGeom>
          <a:solidFill>
            <a:srgbClr val="F0F5F7"/>
          </a:solidFill>
          <a:ln cap="flat" cmpd="sng" w="9525">
            <a:solidFill>
              <a:srgbClr val="C7D8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6"/>
          <p:cNvSpPr/>
          <p:nvPr/>
        </p:nvSpPr>
        <p:spPr>
          <a:xfrm>
            <a:off x="8143875" y="5000625"/>
            <a:ext cx="361950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67D91"/>
                </a:solidFill>
                <a:latin typeface="Nanum Gothic"/>
                <a:ea typeface="Nanum Gothic"/>
                <a:cs typeface="Nanum Gothic"/>
                <a:sym typeface="Nanum Gothic"/>
              </a:rPr>
              <a:t>03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Google Shape;270;p6"/>
          <p:cNvSpPr/>
          <p:nvPr/>
        </p:nvSpPr>
        <p:spPr>
          <a:xfrm>
            <a:off x="8572500" y="4972050"/>
            <a:ext cx="2628900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5"/>
              <a:buFont typeface="Arial"/>
              <a:buNone/>
            </a:pPr>
            <a:r>
              <a:rPr b="1" i="0" lang="en-US" sz="1425" u="none" cap="none" strike="noStrike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검사 화면 매칭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1" name="Google Shape;271;p6"/>
          <p:cNvSpPr/>
          <p:nvPr/>
        </p:nvSpPr>
        <p:spPr>
          <a:xfrm>
            <a:off x="8572500" y="5219700"/>
            <a:ext cx="2628900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526577"/>
                </a:solidFill>
                <a:latin typeface="Nanum Gothic"/>
                <a:ea typeface="Nanum Gothic"/>
                <a:cs typeface="Nanum Gothic"/>
                <a:sym typeface="Nanum Gothic"/>
              </a:rPr>
              <a:t>식별한 카메라를 화면에 연결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2" name="Google Shape;272;p6"/>
          <p:cNvSpPr/>
          <p:nvPr/>
        </p:nvSpPr>
        <p:spPr>
          <a:xfrm>
            <a:off x="9629775" y="4762500"/>
            <a:ext cx="19050" cy="133350"/>
          </a:xfrm>
          <a:prstGeom prst="rect">
            <a:avLst/>
          </a:prstGeom>
          <a:solidFill>
            <a:srgbClr val="167D9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3" name="Google Shape;273;p6"/>
          <p:cNvSpPr/>
          <p:nvPr/>
        </p:nvSpPr>
        <p:spPr>
          <a:xfrm>
            <a:off x="1047750" y="5505450"/>
            <a:ext cx="161925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5"/>
              <a:buFont typeface="Arial"/>
              <a:buNone/>
            </a:pPr>
            <a:r>
              <a:rPr b="1" i="0" lang="en-US" sz="1425" u="none" cap="none" strike="noStrike">
                <a:solidFill>
                  <a:srgbClr val="171717"/>
                </a:solidFill>
                <a:latin typeface="Nanum Gothic"/>
                <a:ea typeface="Nanum Gothic"/>
                <a:cs typeface="Nanum Gothic"/>
                <a:sym typeface="Nanum Gothic"/>
              </a:rPr>
              <a:t>사용 기술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6"/>
          <p:cNvSpPr/>
          <p:nvPr/>
        </p:nvSpPr>
        <p:spPr>
          <a:xfrm>
            <a:off x="1047750" y="5848350"/>
            <a:ext cx="1847850" cy="266700"/>
          </a:xfrm>
          <a:prstGeom prst="roundRect">
            <a:avLst>
              <a:gd fmla="val 35714" name="adj"/>
            </a:avLst>
          </a:prstGeom>
          <a:solidFill>
            <a:srgbClr val="E8EE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6"/>
          <p:cNvSpPr/>
          <p:nvPr/>
        </p:nvSpPr>
        <p:spPr>
          <a:xfrm>
            <a:off x="1123950" y="5886450"/>
            <a:ext cx="169545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263E54"/>
                </a:solidFill>
                <a:latin typeface="Nanum Gothic"/>
                <a:ea typeface="Nanum Gothic"/>
                <a:cs typeface="Nanum Gothic"/>
                <a:sym typeface="Nanum Gothic"/>
              </a:rPr>
              <a:t>Instance ID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6"/>
          <p:cNvSpPr/>
          <p:nvPr/>
        </p:nvSpPr>
        <p:spPr>
          <a:xfrm>
            <a:off x="2981325" y="5848350"/>
            <a:ext cx="1181100" cy="266700"/>
          </a:xfrm>
          <a:prstGeom prst="roundRect">
            <a:avLst>
              <a:gd fmla="val 35714" name="adj"/>
            </a:avLst>
          </a:prstGeom>
          <a:solidFill>
            <a:srgbClr val="E8EE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6"/>
          <p:cNvSpPr/>
          <p:nvPr/>
        </p:nvSpPr>
        <p:spPr>
          <a:xfrm>
            <a:off x="3057525" y="5886450"/>
            <a:ext cx="10287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263E54"/>
                </a:solidFill>
                <a:latin typeface="Nanum Gothic"/>
                <a:ea typeface="Nanum Gothic"/>
                <a:cs typeface="Nanum Gothic"/>
                <a:sym typeface="Nanum Gothic"/>
              </a:rPr>
              <a:t>카메라 매칭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6"/>
          <p:cNvSpPr/>
          <p:nvPr/>
        </p:nvSpPr>
        <p:spPr>
          <a:xfrm>
            <a:off x="4248150" y="5848350"/>
            <a:ext cx="1181100" cy="266700"/>
          </a:xfrm>
          <a:prstGeom prst="roundRect">
            <a:avLst>
              <a:gd fmla="val 35714" name="adj"/>
            </a:avLst>
          </a:prstGeom>
          <a:solidFill>
            <a:srgbClr val="E8EE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9" name="Google Shape;279;p6"/>
          <p:cNvSpPr/>
          <p:nvPr/>
        </p:nvSpPr>
        <p:spPr>
          <a:xfrm>
            <a:off x="4324350" y="5886450"/>
            <a:ext cx="10287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263E54"/>
                </a:solidFill>
                <a:latin typeface="Nanum Gothic"/>
                <a:ea typeface="Nanum Gothic"/>
                <a:cs typeface="Nanum Gothic"/>
                <a:sym typeface="Nanum Gothic"/>
              </a:rPr>
              <a:t>Python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0" name="Google Shape;280;p6"/>
          <p:cNvSpPr/>
          <p:nvPr/>
        </p:nvSpPr>
        <p:spPr>
          <a:xfrm>
            <a:off x="11334750" y="6505575"/>
            <a:ext cx="333375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99999"/>
                </a:solidFill>
                <a:latin typeface="Nanum Gothic"/>
                <a:ea typeface="Nanum Gothic"/>
                <a:cs typeface="Nanum Gothic"/>
                <a:sym typeface="Nanum Gothic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7"/>
          <p:cNvSpPr/>
          <p:nvPr/>
        </p:nvSpPr>
        <p:spPr>
          <a:xfrm>
            <a:off x="685800" y="257175"/>
            <a:ext cx="10820400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75"/>
              <a:buFont typeface="Arial"/>
              <a:buNone/>
            </a:pPr>
            <a:r>
              <a:rPr b="1" i="0" lang="en-US" sz="3075" u="none" cap="none" strike="noStrike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검사 프로그램과 OPC-UA 연동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7" name="Google Shape;287;p7"/>
          <p:cNvSpPr/>
          <p:nvPr/>
        </p:nvSpPr>
        <p:spPr>
          <a:xfrm>
            <a:off x="685800" y="876300"/>
            <a:ext cx="1082040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7B2CBF"/>
                </a:solidFill>
                <a:latin typeface="Nanum Gothic"/>
                <a:ea typeface="Nanum Gothic"/>
                <a:cs typeface="Nanum Gothic"/>
                <a:sym typeface="Nanum Gothic"/>
              </a:rPr>
              <a:t>설비 동작 순서와 비전·로봇 연결 관계를 파악하며 신호 연동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8" name="Google Shape;288;p7"/>
          <p:cNvSpPr/>
          <p:nvPr/>
        </p:nvSpPr>
        <p:spPr>
          <a:xfrm>
            <a:off x="1081198" y="1526875"/>
            <a:ext cx="10820400" cy="4810200"/>
          </a:xfrm>
          <a:prstGeom prst="roundRect">
            <a:avLst>
              <a:gd fmla="val 2376" name="adj"/>
            </a:avLst>
          </a:prstGeom>
          <a:solidFill>
            <a:srgbClr val="FFFFFF"/>
          </a:solidFill>
          <a:ln cap="flat" cmpd="sng" w="9525">
            <a:solidFill>
              <a:srgbClr val="CDD5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9" name="Google Shape;289;p7"/>
          <p:cNvSpPr/>
          <p:nvPr/>
        </p:nvSpPr>
        <p:spPr>
          <a:xfrm>
            <a:off x="1047750" y="1714500"/>
            <a:ext cx="9715500" cy="3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25"/>
              <a:buFont typeface="Arial"/>
              <a:buNone/>
            </a:pPr>
            <a:r>
              <a:rPr b="1" i="0" lang="en-US" sz="1725" u="none" cap="none" strike="noStrike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검사 프로그램과 설비 연동</a:t>
            </a:r>
            <a:endParaRPr b="0" i="0" sz="1400" u="none" cap="none" strike="noStrike">
              <a:solidFill>
                <a:srgbClr val="12283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0" name="Google Shape;290;p7"/>
          <p:cNvSpPr/>
          <p:nvPr/>
        </p:nvSpPr>
        <p:spPr>
          <a:xfrm>
            <a:off x="1047750" y="2352675"/>
            <a:ext cx="66675" cy="66675"/>
          </a:xfrm>
          <a:prstGeom prst="ellipse">
            <a:avLst/>
          </a:prstGeom>
          <a:solidFill>
            <a:srgbClr val="167D9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1" name="Google Shape;291;p7"/>
          <p:cNvSpPr/>
          <p:nvPr/>
        </p:nvSpPr>
        <p:spPr>
          <a:xfrm>
            <a:off x="1219200" y="2276475"/>
            <a:ext cx="626745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5"/>
              <a:buFont typeface="Arial"/>
              <a:buNone/>
            </a:pPr>
            <a:r>
              <a:rPr b="1" i="0" lang="en-US" sz="1575" u="none" cap="none" strike="noStrike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검사 프로그램 구현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2" name="Google Shape;292;p7"/>
          <p:cNvSpPr/>
          <p:nvPr/>
        </p:nvSpPr>
        <p:spPr>
          <a:xfrm>
            <a:off x="1381125" y="2571750"/>
            <a:ext cx="6029325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5"/>
              <a:buFont typeface="Arial"/>
              <a:buNone/>
            </a:pPr>
            <a:r>
              <a:rPr b="0" i="0" lang="en-US" sz="1425" u="none" cap="none" strike="noStrike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Python으로 실시간 검사·결과 표시 및 판정 신호 출력</a:t>
            </a:r>
            <a:endParaRPr b="0" i="0" sz="1400" u="none" cap="none" strike="noStrike">
              <a:solidFill>
                <a:srgbClr val="12283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3" name="Google Shape;293;p7"/>
          <p:cNvSpPr/>
          <p:nvPr/>
        </p:nvSpPr>
        <p:spPr>
          <a:xfrm>
            <a:off x="1047750" y="3333750"/>
            <a:ext cx="66675" cy="66675"/>
          </a:xfrm>
          <a:prstGeom prst="ellipse">
            <a:avLst/>
          </a:prstGeom>
          <a:solidFill>
            <a:srgbClr val="167D9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7"/>
          <p:cNvSpPr/>
          <p:nvPr/>
        </p:nvSpPr>
        <p:spPr>
          <a:xfrm>
            <a:off x="1219200" y="3257550"/>
            <a:ext cx="626745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5"/>
              <a:buFont typeface="Arial"/>
              <a:buNone/>
            </a:pPr>
            <a:r>
              <a:rPr b="1" i="0" lang="en-US" sz="1575" u="none" cap="none" strike="noStrike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OPC-UA 태그 연동</a:t>
            </a:r>
            <a:endParaRPr b="0" i="0" sz="1400" u="none" cap="none" strike="noStrike">
              <a:solidFill>
                <a:srgbClr val="12283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5" name="Google Shape;295;p7"/>
          <p:cNvSpPr/>
          <p:nvPr/>
        </p:nvSpPr>
        <p:spPr>
          <a:xfrm>
            <a:off x="1381125" y="3552825"/>
            <a:ext cx="6029325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5"/>
              <a:buFont typeface="Arial"/>
              <a:buNone/>
            </a:pPr>
            <a:r>
              <a:rPr b="0" i="0" lang="en-US" sz="1425" u="none" cap="none" strike="noStrike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연동 태그를 만들고 PLC·로봇·비전에 태그 값을 지정</a:t>
            </a:r>
            <a:endParaRPr b="0" i="0" sz="1400" u="none" cap="none" strike="noStrike">
              <a:solidFill>
                <a:srgbClr val="12283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5"/>
              <a:buFont typeface="Arial"/>
              <a:buNone/>
            </a:pPr>
            <a:r>
              <a:rPr b="0" i="0" lang="en-US" sz="1425" u="none" cap="none" strike="noStrike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검사 시작·완료·판정·오류 신호와 상태 확인</a:t>
            </a:r>
            <a:endParaRPr b="0" i="0" sz="1400" u="none" cap="none" strike="noStrike">
              <a:solidFill>
                <a:srgbClr val="12283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" name="Google Shape;296;p7"/>
          <p:cNvSpPr/>
          <p:nvPr/>
        </p:nvSpPr>
        <p:spPr>
          <a:xfrm>
            <a:off x="1047750" y="4314825"/>
            <a:ext cx="66675" cy="66675"/>
          </a:xfrm>
          <a:prstGeom prst="ellipse">
            <a:avLst/>
          </a:prstGeom>
          <a:solidFill>
            <a:srgbClr val="167D9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7" name="Google Shape;297;p7"/>
          <p:cNvSpPr/>
          <p:nvPr/>
        </p:nvSpPr>
        <p:spPr>
          <a:xfrm>
            <a:off x="1219200" y="4238625"/>
            <a:ext cx="626745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5"/>
              <a:buFont typeface="Arial"/>
              <a:buNone/>
            </a:pPr>
            <a:r>
              <a:rPr b="1" i="0" lang="en-US" sz="1575" u="none" cap="none" strike="noStrike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분류 결과와 로봇 동작 연결</a:t>
            </a:r>
            <a:endParaRPr b="0" i="0" sz="1400" u="none" cap="none" strike="noStrike">
              <a:solidFill>
                <a:srgbClr val="12283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8" name="Google Shape;298;p7"/>
          <p:cNvSpPr/>
          <p:nvPr/>
        </p:nvSpPr>
        <p:spPr>
          <a:xfrm>
            <a:off x="1381125" y="4533900"/>
            <a:ext cx="6029325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5"/>
              <a:buFont typeface="Arial"/>
              <a:buNone/>
            </a:pPr>
            <a:r>
              <a:rPr b="0" i="0" lang="en-US" sz="1425" u="none" cap="none" strike="noStrike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마지막·재활용 공정에서 YOLO로 객체 종류 분류</a:t>
            </a:r>
            <a:endParaRPr b="0" i="0" sz="1400" u="none" cap="none" strike="noStrike">
              <a:solidFill>
                <a:srgbClr val="12283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5"/>
              <a:buFont typeface="Arial"/>
              <a:buNone/>
            </a:pPr>
            <a:r>
              <a:rPr b="0" i="0" lang="en-US" sz="1425" u="none" cap="none" strike="noStrike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로봇이 판정 결과에 따라 해당 공급라인·창고로 이송</a:t>
            </a:r>
            <a:endParaRPr b="0" i="0" sz="1400" u="none" cap="none" strike="noStrike">
              <a:solidFill>
                <a:srgbClr val="12283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99" name="Google Shape;299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09024" y="1755147"/>
            <a:ext cx="1799999" cy="1440001"/>
          </a:xfrm>
          <a:prstGeom prst="rect">
            <a:avLst/>
          </a:prstGeom>
          <a:noFill/>
          <a:ln>
            <a:noFill/>
          </a:ln>
        </p:spPr>
      </p:pic>
      <p:sp>
        <p:nvSpPr>
          <p:cNvPr id="300" name="Google Shape;300;p7"/>
          <p:cNvSpPr/>
          <p:nvPr/>
        </p:nvSpPr>
        <p:spPr>
          <a:xfrm>
            <a:off x="6101540" y="3298065"/>
            <a:ext cx="3257700" cy="21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57585"/>
                </a:solidFill>
                <a:latin typeface="Nanum Gothic"/>
                <a:ea typeface="Nanum Gothic"/>
                <a:cs typeface="Nanum Gothic"/>
                <a:sym typeface="Nanum Gothic"/>
              </a:rPr>
              <a:t>검사 코드 일부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01" name="Google Shape;301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363187" y="1766235"/>
            <a:ext cx="1800002" cy="1440001"/>
          </a:xfrm>
          <a:prstGeom prst="rect">
            <a:avLst/>
          </a:prstGeom>
          <a:noFill/>
          <a:ln>
            <a:noFill/>
          </a:ln>
        </p:spPr>
      </p:pic>
      <p:sp>
        <p:nvSpPr>
          <p:cNvPr id="302" name="Google Shape;302;p7"/>
          <p:cNvSpPr/>
          <p:nvPr/>
        </p:nvSpPr>
        <p:spPr>
          <a:xfrm>
            <a:off x="8643162" y="3298026"/>
            <a:ext cx="3257700" cy="21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57585"/>
                </a:solidFill>
                <a:latin typeface="Nanum Gothic"/>
                <a:ea typeface="Nanum Gothic"/>
                <a:cs typeface="Nanum Gothic"/>
                <a:sym typeface="Nanum Gothic"/>
              </a:rPr>
              <a:t>OPC-UA 태그 구성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3" name="Google Shape;303;p7"/>
          <p:cNvSpPr/>
          <p:nvPr/>
        </p:nvSpPr>
        <p:spPr>
          <a:xfrm>
            <a:off x="8001000" y="5286375"/>
            <a:ext cx="914400" cy="323850"/>
          </a:xfrm>
          <a:prstGeom prst="rect">
            <a:avLst/>
          </a:prstGeom>
          <a:solidFill>
            <a:srgbClr val="F0F5F7"/>
          </a:solidFill>
          <a:ln cap="flat" cmpd="sng" w="9525">
            <a:solidFill>
              <a:srgbClr val="C7D8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4" name="Google Shape;304;p7"/>
          <p:cNvSpPr/>
          <p:nvPr/>
        </p:nvSpPr>
        <p:spPr>
          <a:xfrm>
            <a:off x="8048625" y="5353050"/>
            <a:ext cx="819150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PLC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5" name="Google Shape;305;p7"/>
          <p:cNvSpPr/>
          <p:nvPr/>
        </p:nvSpPr>
        <p:spPr>
          <a:xfrm>
            <a:off x="8934450" y="5314950"/>
            <a:ext cx="257175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b="0" i="0" lang="en-US" sz="1650" u="none" cap="none" strike="noStrike">
                <a:solidFill>
                  <a:srgbClr val="167D91"/>
                </a:solidFill>
                <a:latin typeface="Nanum Gothic"/>
                <a:ea typeface="Nanum Gothic"/>
                <a:cs typeface="Nanum Gothic"/>
                <a:sym typeface="Nanum Gothic"/>
              </a:rPr>
              <a:t>↔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" name="Google Shape;306;p7"/>
          <p:cNvSpPr/>
          <p:nvPr/>
        </p:nvSpPr>
        <p:spPr>
          <a:xfrm>
            <a:off x="9201150" y="5286375"/>
            <a:ext cx="914400" cy="323850"/>
          </a:xfrm>
          <a:prstGeom prst="rect">
            <a:avLst/>
          </a:prstGeom>
          <a:solidFill>
            <a:srgbClr val="F0F5F7"/>
          </a:solidFill>
          <a:ln cap="flat" cmpd="sng" w="9525">
            <a:solidFill>
              <a:srgbClr val="C7D8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7"/>
          <p:cNvSpPr/>
          <p:nvPr/>
        </p:nvSpPr>
        <p:spPr>
          <a:xfrm>
            <a:off x="9248775" y="5353050"/>
            <a:ext cx="819150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KepServer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8" name="Google Shape;308;p7"/>
          <p:cNvSpPr/>
          <p:nvPr/>
        </p:nvSpPr>
        <p:spPr>
          <a:xfrm>
            <a:off x="10134600" y="5314950"/>
            <a:ext cx="257175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b="0" i="0" lang="en-US" sz="1650" u="none" cap="none" strike="noStrike">
                <a:solidFill>
                  <a:srgbClr val="167D91"/>
                </a:solidFill>
                <a:latin typeface="Nanum Gothic"/>
                <a:ea typeface="Nanum Gothic"/>
                <a:cs typeface="Nanum Gothic"/>
                <a:sym typeface="Nanum Gothic"/>
              </a:rPr>
              <a:t>↔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9" name="Google Shape;309;p7"/>
          <p:cNvSpPr/>
          <p:nvPr/>
        </p:nvSpPr>
        <p:spPr>
          <a:xfrm>
            <a:off x="10401300" y="5286375"/>
            <a:ext cx="914400" cy="323850"/>
          </a:xfrm>
          <a:prstGeom prst="rect">
            <a:avLst/>
          </a:prstGeom>
          <a:solidFill>
            <a:srgbClr val="F0F5F7"/>
          </a:solidFill>
          <a:ln cap="flat" cmpd="sng" w="9525">
            <a:solidFill>
              <a:srgbClr val="C7D8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0" name="Google Shape;310;p7"/>
          <p:cNvSpPr/>
          <p:nvPr/>
        </p:nvSpPr>
        <p:spPr>
          <a:xfrm>
            <a:off x="10448925" y="5353050"/>
            <a:ext cx="819150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비전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1" name="Google Shape;311;p7"/>
          <p:cNvSpPr/>
          <p:nvPr/>
        </p:nvSpPr>
        <p:spPr>
          <a:xfrm>
            <a:off x="8001000" y="5667375"/>
            <a:ext cx="3314700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검사 시작 / 완료·판정·오류 신호 교환</a:t>
            </a:r>
            <a:endParaRPr b="0" i="0" sz="1400" u="none" cap="none" strike="noStrike">
              <a:solidFill>
                <a:srgbClr val="12283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2" name="Google Shape;312;p7"/>
          <p:cNvSpPr/>
          <p:nvPr/>
        </p:nvSpPr>
        <p:spPr>
          <a:xfrm>
            <a:off x="1047750" y="5505450"/>
            <a:ext cx="161925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5"/>
              <a:buFont typeface="Arial"/>
              <a:buNone/>
            </a:pPr>
            <a:r>
              <a:rPr b="1" i="0" lang="en-US" sz="1425" u="none" cap="none" strike="noStrike">
                <a:solidFill>
                  <a:srgbClr val="171717"/>
                </a:solidFill>
                <a:latin typeface="Nanum Gothic"/>
                <a:ea typeface="Nanum Gothic"/>
                <a:cs typeface="Nanum Gothic"/>
                <a:sym typeface="Nanum Gothic"/>
              </a:rPr>
              <a:t>사용 기술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3" name="Google Shape;313;p7"/>
          <p:cNvSpPr/>
          <p:nvPr/>
        </p:nvSpPr>
        <p:spPr>
          <a:xfrm>
            <a:off x="1047750" y="5848350"/>
            <a:ext cx="1181100" cy="266700"/>
          </a:xfrm>
          <a:prstGeom prst="roundRect">
            <a:avLst>
              <a:gd fmla="val 35714" name="adj"/>
            </a:avLst>
          </a:prstGeom>
          <a:solidFill>
            <a:srgbClr val="E8EE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4" name="Google Shape;314;p7"/>
          <p:cNvSpPr/>
          <p:nvPr/>
        </p:nvSpPr>
        <p:spPr>
          <a:xfrm>
            <a:off x="1123950" y="5886450"/>
            <a:ext cx="10287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263E54"/>
                </a:solidFill>
                <a:latin typeface="Nanum Gothic"/>
                <a:ea typeface="Nanum Gothic"/>
                <a:cs typeface="Nanum Gothic"/>
                <a:sym typeface="Nanum Gothic"/>
              </a:rPr>
              <a:t>Python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5" name="Google Shape;315;p7"/>
          <p:cNvSpPr/>
          <p:nvPr/>
        </p:nvSpPr>
        <p:spPr>
          <a:xfrm>
            <a:off x="2314575" y="5848350"/>
            <a:ext cx="1181100" cy="266700"/>
          </a:xfrm>
          <a:prstGeom prst="roundRect">
            <a:avLst>
              <a:gd fmla="val 35714" name="adj"/>
            </a:avLst>
          </a:prstGeom>
          <a:solidFill>
            <a:srgbClr val="E8EE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6" name="Google Shape;316;p7"/>
          <p:cNvSpPr/>
          <p:nvPr/>
        </p:nvSpPr>
        <p:spPr>
          <a:xfrm>
            <a:off x="2390775" y="5886450"/>
            <a:ext cx="10287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263E54"/>
                </a:solidFill>
                <a:latin typeface="Nanum Gothic"/>
                <a:ea typeface="Nanum Gothic"/>
                <a:cs typeface="Nanum Gothic"/>
                <a:sym typeface="Nanum Gothic"/>
              </a:rPr>
              <a:t>OPC-UA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7" name="Google Shape;317;p7"/>
          <p:cNvSpPr/>
          <p:nvPr/>
        </p:nvSpPr>
        <p:spPr>
          <a:xfrm>
            <a:off x="3581400" y="5848350"/>
            <a:ext cx="1581150" cy="266700"/>
          </a:xfrm>
          <a:prstGeom prst="roundRect">
            <a:avLst>
              <a:gd fmla="val 35714" name="adj"/>
            </a:avLst>
          </a:prstGeom>
          <a:solidFill>
            <a:srgbClr val="E8EE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p7"/>
          <p:cNvSpPr/>
          <p:nvPr/>
        </p:nvSpPr>
        <p:spPr>
          <a:xfrm>
            <a:off x="3657600" y="5886450"/>
            <a:ext cx="142875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263E54"/>
                </a:solidFill>
                <a:latin typeface="Nanum Gothic"/>
                <a:ea typeface="Nanum Gothic"/>
                <a:cs typeface="Nanum Gothic"/>
                <a:sym typeface="Nanum Gothic"/>
              </a:rPr>
              <a:t>KepServer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9" name="Google Shape;319;p7"/>
          <p:cNvSpPr/>
          <p:nvPr/>
        </p:nvSpPr>
        <p:spPr>
          <a:xfrm>
            <a:off x="5248275" y="5848350"/>
            <a:ext cx="1181100" cy="266700"/>
          </a:xfrm>
          <a:prstGeom prst="roundRect">
            <a:avLst>
              <a:gd fmla="val 35714" name="adj"/>
            </a:avLst>
          </a:prstGeom>
          <a:solidFill>
            <a:srgbClr val="E8EE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0" name="Google Shape;320;p7"/>
          <p:cNvSpPr/>
          <p:nvPr/>
        </p:nvSpPr>
        <p:spPr>
          <a:xfrm>
            <a:off x="5324475" y="5886450"/>
            <a:ext cx="10287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263E54"/>
                </a:solidFill>
                <a:latin typeface="Nanum Gothic"/>
                <a:ea typeface="Nanum Gothic"/>
                <a:cs typeface="Nanum Gothic"/>
                <a:sym typeface="Nanum Gothic"/>
              </a:rPr>
              <a:t>PLC 신호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1" name="Google Shape;321;p7"/>
          <p:cNvSpPr/>
          <p:nvPr/>
        </p:nvSpPr>
        <p:spPr>
          <a:xfrm>
            <a:off x="11334750" y="6505575"/>
            <a:ext cx="333375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99999"/>
                </a:solidFill>
                <a:latin typeface="Nanum Gothic"/>
                <a:ea typeface="Nanum Gothic"/>
                <a:cs typeface="Nanum Gothic"/>
                <a:sym typeface="Nanum Gothic"/>
              </a:rPr>
              <a:t>07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22" name="Google Shape;322;p7" title="Capture_2026_0928_155550.png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830400" y="3530257"/>
            <a:ext cx="1800003" cy="1440001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DD5DE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323" name="Google Shape;323;p7"/>
          <p:cNvSpPr/>
          <p:nvPr/>
        </p:nvSpPr>
        <p:spPr>
          <a:xfrm>
            <a:off x="6119271" y="5044176"/>
            <a:ext cx="3257700" cy="21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57585"/>
                </a:solidFill>
                <a:latin typeface="Nanum Gothic"/>
                <a:ea typeface="Nanum Gothic"/>
                <a:cs typeface="Nanum Gothic"/>
                <a:sym typeface="Nanum Gothic"/>
              </a:rPr>
              <a:t>실시간검사 프로그램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24" name="Google Shape;324;p7" title="Capture_2026_1007_074709.png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372000" y="3526300"/>
            <a:ext cx="1799999" cy="14400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DD5DE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325" name="Google Shape;325;p7"/>
          <p:cNvSpPr/>
          <p:nvPr/>
        </p:nvSpPr>
        <p:spPr>
          <a:xfrm>
            <a:off x="8753896" y="5016826"/>
            <a:ext cx="3257700" cy="21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57585"/>
                </a:solidFill>
                <a:latin typeface="Nanum Gothic"/>
                <a:ea typeface="Nanum Gothic"/>
                <a:cs typeface="Nanum Gothic"/>
                <a:sym typeface="Nanum Gothic"/>
              </a:rPr>
              <a:t>SCADA와 VISION 연동 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8"/>
          <p:cNvSpPr/>
          <p:nvPr/>
        </p:nvSpPr>
        <p:spPr>
          <a:xfrm>
            <a:off x="685800" y="257175"/>
            <a:ext cx="10820400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75"/>
              <a:buFont typeface="Arial"/>
              <a:buNone/>
            </a:pPr>
            <a:r>
              <a:rPr b="1" i="0" lang="en-US" sz="3075" u="none" cap="none" strike="noStrike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부품과 가이드 설계 및 출력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2" name="Google Shape;332;p8"/>
          <p:cNvSpPr/>
          <p:nvPr/>
        </p:nvSpPr>
        <p:spPr>
          <a:xfrm>
            <a:off x="685800" y="876300"/>
            <a:ext cx="1082040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7C7C7C"/>
                </a:solidFill>
                <a:latin typeface="Nanum Gothic"/>
                <a:ea typeface="Nanum Gothic"/>
                <a:cs typeface="Nanum Gothic"/>
                <a:sym typeface="Nanum Gothic"/>
              </a:rPr>
              <a:t>본인 수행 · SOLIDWORKS 설계부터 Bambu Lab A1 출력까지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3" name="Google Shape;333;p8"/>
          <p:cNvSpPr/>
          <p:nvPr/>
        </p:nvSpPr>
        <p:spPr>
          <a:xfrm>
            <a:off x="914400" y="1438275"/>
            <a:ext cx="10820400" cy="4810125"/>
          </a:xfrm>
          <a:prstGeom prst="roundRect">
            <a:avLst>
              <a:gd fmla="val 2376" name="adj"/>
            </a:avLst>
          </a:prstGeom>
          <a:solidFill>
            <a:srgbClr val="FFFFFF"/>
          </a:solidFill>
          <a:ln cap="flat" cmpd="sng" w="9525">
            <a:solidFill>
              <a:srgbClr val="CDD5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4" name="Google Shape;334;p8"/>
          <p:cNvSpPr/>
          <p:nvPr/>
        </p:nvSpPr>
        <p:spPr>
          <a:xfrm>
            <a:off x="1047750" y="1714500"/>
            <a:ext cx="9715500" cy="3143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25"/>
              <a:buFont typeface="Arial"/>
              <a:buNone/>
            </a:pPr>
            <a:r>
              <a:rPr b="1" i="0" lang="en-US" sz="1725" u="none" cap="none" strike="noStrike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직접 수행한 작업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5" name="Google Shape;335;p8"/>
          <p:cNvSpPr/>
          <p:nvPr/>
        </p:nvSpPr>
        <p:spPr>
          <a:xfrm>
            <a:off x="1047750" y="2352675"/>
            <a:ext cx="66675" cy="66675"/>
          </a:xfrm>
          <a:prstGeom prst="ellipse">
            <a:avLst/>
          </a:prstGeom>
          <a:solidFill>
            <a:srgbClr val="167D9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6" name="Google Shape;336;p8"/>
          <p:cNvSpPr/>
          <p:nvPr/>
        </p:nvSpPr>
        <p:spPr>
          <a:xfrm>
            <a:off x="1219200" y="2276475"/>
            <a:ext cx="626745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5"/>
              <a:buFont typeface="Arial"/>
              <a:buNone/>
            </a:pPr>
            <a:r>
              <a:rPr b="1" i="0" lang="en-US" sz="1575" u="none" cap="none" strike="noStrike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차량 부품과 가이드 설계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7" name="Google Shape;337;p8"/>
          <p:cNvSpPr/>
          <p:nvPr/>
        </p:nvSpPr>
        <p:spPr>
          <a:xfrm>
            <a:off x="1381125" y="2571750"/>
            <a:ext cx="6029325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5"/>
              <a:buFont typeface="Arial"/>
              <a:buNone/>
            </a:pPr>
            <a:r>
              <a:rPr b="0" i="0" lang="en-US" sz="1425" u="none" cap="none" strike="noStrike">
                <a:solidFill>
                  <a:srgbClr val="435261"/>
                </a:solidFill>
                <a:latin typeface="Nanum Gothic"/>
                <a:ea typeface="Nanum Gothic"/>
                <a:cs typeface="Nanum Gothic"/>
                <a:sym typeface="Nanum Gothic"/>
              </a:rPr>
              <a:t>램프·시트·차량 상부와 하부, 공정용 가이드 모델링 및 도면 설계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"/>
          <p:cNvSpPr/>
          <p:nvPr/>
        </p:nvSpPr>
        <p:spPr>
          <a:xfrm>
            <a:off x="1047750" y="3333750"/>
            <a:ext cx="66675" cy="66675"/>
          </a:xfrm>
          <a:prstGeom prst="ellipse">
            <a:avLst/>
          </a:prstGeom>
          <a:solidFill>
            <a:srgbClr val="167D9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8"/>
          <p:cNvSpPr/>
          <p:nvPr/>
        </p:nvSpPr>
        <p:spPr>
          <a:xfrm>
            <a:off x="1219200" y="3257550"/>
            <a:ext cx="626745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5"/>
              <a:buFont typeface="Arial"/>
              <a:buNone/>
            </a:pPr>
            <a:r>
              <a:rPr b="1" i="0" lang="en-US" sz="1575" u="none" cap="none" strike="noStrike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어셈블리 조립 확인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0" name="Google Shape;340;p8"/>
          <p:cNvSpPr/>
          <p:nvPr/>
        </p:nvSpPr>
        <p:spPr>
          <a:xfrm>
            <a:off x="1381125" y="3552825"/>
            <a:ext cx="6029325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5"/>
              <a:buFont typeface="Arial"/>
              <a:buNone/>
            </a:pPr>
            <a:r>
              <a:rPr b="0" i="0" lang="en-US" sz="1425" u="none" cap="none" strike="noStrike">
                <a:solidFill>
                  <a:srgbClr val="435261"/>
                </a:solidFill>
                <a:latin typeface="Nanum Gothic"/>
                <a:ea typeface="Nanum Gothic"/>
                <a:cs typeface="Nanum Gothic"/>
                <a:sym typeface="Nanum Gothic"/>
              </a:rPr>
              <a:t>부품을 조립해 결합 관계와 조립 상태 확인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1" name="Google Shape;341;p8"/>
          <p:cNvSpPr/>
          <p:nvPr/>
        </p:nvSpPr>
        <p:spPr>
          <a:xfrm>
            <a:off x="1047750" y="4314825"/>
            <a:ext cx="66675" cy="66675"/>
          </a:xfrm>
          <a:prstGeom prst="ellipse">
            <a:avLst/>
          </a:prstGeom>
          <a:solidFill>
            <a:srgbClr val="167D9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2" name="Google Shape;342;p8"/>
          <p:cNvSpPr/>
          <p:nvPr/>
        </p:nvSpPr>
        <p:spPr>
          <a:xfrm>
            <a:off x="1219200" y="4238625"/>
            <a:ext cx="626745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5"/>
              <a:buFont typeface="Arial"/>
              <a:buNone/>
            </a:pPr>
            <a:r>
              <a:rPr b="1" i="0" lang="en-US" sz="1575" u="none" cap="none" strike="noStrike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3D 프린터 출력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3" name="Google Shape;343;p8"/>
          <p:cNvSpPr/>
          <p:nvPr/>
        </p:nvSpPr>
        <p:spPr>
          <a:xfrm>
            <a:off x="1381125" y="4533900"/>
            <a:ext cx="6029325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5"/>
              <a:buFont typeface="Arial"/>
              <a:buNone/>
            </a:pPr>
            <a:r>
              <a:rPr b="0" i="0" lang="en-US" sz="1425" u="none" cap="none" strike="noStrike">
                <a:solidFill>
                  <a:srgbClr val="435261"/>
                </a:solidFill>
                <a:latin typeface="Nanum Gothic"/>
                <a:ea typeface="Nanum Gothic"/>
                <a:cs typeface="Nanum Gothic"/>
                <a:sym typeface="Nanum Gothic"/>
              </a:rPr>
              <a:t>설계 부품을 Bambu Lab A1으로 출력하여 제작 과정 수행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44" name="Google Shape;344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16750" y="1649927"/>
            <a:ext cx="1619250" cy="769423"/>
          </a:xfrm>
          <a:prstGeom prst="rect">
            <a:avLst/>
          </a:prstGeom>
          <a:noFill/>
          <a:ln>
            <a:noFill/>
          </a:ln>
        </p:spPr>
      </p:pic>
      <p:sp>
        <p:nvSpPr>
          <p:cNvPr id="345" name="Google Shape;345;p8"/>
          <p:cNvSpPr/>
          <p:nvPr/>
        </p:nvSpPr>
        <p:spPr>
          <a:xfrm>
            <a:off x="8016750" y="2533650"/>
            <a:ext cx="1619100" cy="21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57585"/>
                </a:solidFill>
                <a:latin typeface="Nanum Gothic"/>
                <a:ea typeface="Nanum Gothic"/>
                <a:cs typeface="Nanum Gothic"/>
                <a:sym typeface="Nanum Gothic"/>
              </a:rPr>
              <a:t>램프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46" name="Google Shape;346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696450" y="1649926"/>
            <a:ext cx="1619250" cy="721022"/>
          </a:xfrm>
          <a:prstGeom prst="rect">
            <a:avLst/>
          </a:prstGeom>
          <a:noFill/>
          <a:ln>
            <a:noFill/>
          </a:ln>
        </p:spPr>
      </p:pic>
      <p:sp>
        <p:nvSpPr>
          <p:cNvPr id="347" name="Google Shape;347;p8"/>
          <p:cNvSpPr/>
          <p:nvPr/>
        </p:nvSpPr>
        <p:spPr>
          <a:xfrm>
            <a:off x="9696450" y="2533650"/>
            <a:ext cx="1619100" cy="21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57585"/>
                </a:solidFill>
                <a:latin typeface="Nanum Gothic"/>
                <a:ea typeface="Nanum Gothic"/>
                <a:cs typeface="Nanum Gothic"/>
                <a:sym typeface="Nanum Gothic"/>
              </a:rPr>
              <a:t>시트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48" name="Google Shape;348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016750" y="3061471"/>
            <a:ext cx="1619250" cy="820783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8"/>
          <p:cNvSpPr/>
          <p:nvPr/>
        </p:nvSpPr>
        <p:spPr>
          <a:xfrm>
            <a:off x="8016675" y="4076625"/>
            <a:ext cx="1619100" cy="21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57585"/>
                </a:solidFill>
                <a:latin typeface="Nanum Gothic"/>
                <a:ea typeface="Nanum Gothic"/>
                <a:cs typeface="Nanum Gothic"/>
                <a:sym typeface="Nanum Gothic"/>
              </a:rPr>
              <a:t>차량 하부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50" name="Google Shape;350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696450" y="3080986"/>
            <a:ext cx="1619250" cy="781753"/>
          </a:xfrm>
          <a:prstGeom prst="rect">
            <a:avLst/>
          </a:prstGeom>
          <a:noFill/>
          <a:ln>
            <a:noFill/>
          </a:ln>
        </p:spPr>
      </p:pic>
      <p:sp>
        <p:nvSpPr>
          <p:cNvPr id="351" name="Google Shape;351;p8"/>
          <p:cNvSpPr/>
          <p:nvPr/>
        </p:nvSpPr>
        <p:spPr>
          <a:xfrm>
            <a:off x="9696450" y="4076625"/>
            <a:ext cx="1619100" cy="21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57585"/>
                </a:solidFill>
                <a:latin typeface="Nanum Gothic"/>
                <a:ea typeface="Nanum Gothic"/>
                <a:cs typeface="Nanum Gothic"/>
                <a:sym typeface="Nanum Gothic"/>
              </a:rPr>
              <a:t>차량 상부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8"/>
          <p:cNvSpPr/>
          <p:nvPr/>
        </p:nvSpPr>
        <p:spPr>
          <a:xfrm>
            <a:off x="1047750" y="5505450"/>
            <a:ext cx="161925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5"/>
              <a:buFont typeface="Arial"/>
              <a:buNone/>
            </a:pPr>
            <a:r>
              <a:rPr b="1" i="0" lang="en-US" sz="1425" u="none" cap="none" strike="noStrike">
                <a:solidFill>
                  <a:srgbClr val="171717"/>
                </a:solidFill>
                <a:latin typeface="Nanum Gothic"/>
                <a:ea typeface="Nanum Gothic"/>
                <a:cs typeface="Nanum Gothic"/>
                <a:sym typeface="Nanum Gothic"/>
              </a:rPr>
              <a:t>사용 기술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3" name="Google Shape;353;p8"/>
          <p:cNvSpPr/>
          <p:nvPr/>
        </p:nvSpPr>
        <p:spPr>
          <a:xfrm>
            <a:off x="1047750" y="5848350"/>
            <a:ext cx="1714500" cy="266700"/>
          </a:xfrm>
          <a:prstGeom prst="roundRect">
            <a:avLst>
              <a:gd fmla="val 35714" name="adj"/>
            </a:avLst>
          </a:prstGeom>
          <a:solidFill>
            <a:srgbClr val="E8EE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4" name="Google Shape;354;p8"/>
          <p:cNvSpPr/>
          <p:nvPr/>
        </p:nvSpPr>
        <p:spPr>
          <a:xfrm>
            <a:off x="1123950" y="5886450"/>
            <a:ext cx="15621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263E54"/>
                </a:solidFill>
                <a:latin typeface="Nanum Gothic"/>
                <a:ea typeface="Nanum Gothic"/>
                <a:cs typeface="Nanum Gothic"/>
                <a:sym typeface="Nanum Gothic"/>
              </a:rPr>
              <a:t>SOLIDWORKS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5" name="Google Shape;355;p8"/>
          <p:cNvSpPr/>
          <p:nvPr/>
        </p:nvSpPr>
        <p:spPr>
          <a:xfrm>
            <a:off x="2847975" y="5848350"/>
            <a:ext cx="1047750" cy="266700"/>
          </a:xfrm>
          <a:prstGeom prst="roundRect">
            <a:avLst>
              <a:gd fmla="val 35714" name="adj"/>
            </a:avLst>
          </a:prstGeom>
          <a:solidFill>
            <a:srgbClr val="E8EE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6" name="Google Shape;356;p8"/>
          <p:cNvSpPr/>
          <p:nvPr/>
        </p:nvSpPr>
        <p:spPr>
          <a:xfrm>
            <a:off x="2924175" y="5886450"/>
            <a:ext cx="89535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263E54"/>
                </a:solidFill>
                <a:latin typeface="Nanum Gothic"/>
                <a:ea typeface="Nanum Gothic"/>
                <a:cs typeface="Nanum Gothic"/>
                <a:sym typeface="Nanum Gothic"/>
              </a:rPr>
              <a:t>도면 설계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7" name="Google Shape;357;p8"/>
          <p:cNvSpPr/>
          <p:nvPr/>
        </p:nvSpPr>
        <p:spPr>
          <a:xfrm>
            <a:off x="3981450" y="5848350"/>
            <a:ext cx="914400" cy="266700"/>
          </a:xfrm>
          <a:prstGeom prst="roundRect">
            <a:avLst>
              <a:gd fmla="val 35714" name="adj"/>
            </a:avLst>
          </a:prstGeom>
          <a:solidFill>
            <a:srgbClr val="E8EE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8" name="Google Shape;358;p8"/>
          <p:cNvSpPr/>
          <p:nvPr/>
        </p:nvSpPr>
        <p:spPr>
          <a:xfrm>
            <a:off x="4057650" y="5886450"/>
            <a:ext cx="7620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263E54"/>
                </a:solidFill>
                <a:latin typeface="Nanum Gothic"/>
                <a:ea typeface="Nanum Gothic"/>
                <a:cs typeface="Nanum Gothic"/>
                <a:sym typeface="Nanum Gothic"/>
              </a:rPr>
              <a:t>어셈블리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9" name="Google Shape;359;p8"/>
          <p:cNvSpPr/>
          <p:nvPr/>
        </p:nvSpPr>
        <p:spPr>
          <a:xfrm>
            <a:off x="4981575" y="5848350"/>
            <a:ext cx="1981200" cy="266700"/>
          </a:xfrm>
          <a:prstGeom prst="roundRect">
            <a:avLst>
              <a:gd fmla="val 35714" name="adj"/>
            </a:avLst>
          </a:prstGeom>
          <a:solidFill>
            <a:srgbClr val="E8EE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0" name="Google Shape;360;p8"/>
          <p:cNvSpPr/>
          <p:nvPr/>
        </p:nvSpPr>
        <p:spPr>
          <a:xfrm>
            <a:off x="5057775" y="5886450"/>
            <a:ext cx="18288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263E54"/>
                </a:solidFill>
                <a:latin typeface="Nanum Gothic"/>
                <a:ea typeface="Nanum Gothic"/>
                <a:cs typeface="Nanum Gothic"/>
                <a:sym typeface="Nanum Gothic"/>
              </a:rPr>
              <a:t>Bambu Lab A1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1" name="Google Shape;361;p8"/>
          <p:cNvSpPr/>
          <p:nvPr/>
        </p:nvSpPr>
        <p:spPr>
          <a:xfrm>
            <a:off x="11334750" y="6505575"/>
            <a:ext cx="333375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99999"/>
                </a:solidFill>
                <a:latin typeface="Nanum Gothic"/>
                <a:ea typeface="Nanum Gothic"/>
                <a:cs typeface="Nanum Gothic"/>
                <a:sym typeface="Nanum Gothic"/>
              </a:rPr>
              <a:t>08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62" name="Google Shape;362;p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529075" y="4489988"/>
            <a:ext cx="2520000" cy="1440000"/>
          </a:xfrm>
          <a:prstGeom prst="rect">
            <a:avLst/>
          </a:prstGeom>
          <a:noFill/>
          <a:ln>
            <a:noFill/>
          </a:ln>
        </p:spPr>
      </p:pic>
      <p:sp>
        <p:nvSpPr>
          <p:cNvPr id="363" name="Google Shape;363;p8"/>
          <p:cNvSpPr/>
          <p:nvPr/>
        </p:nvSpPr>
        <p:spPr>
          <a:xfrm>
            <a:off x="8130113" y="5952900"/>
            <a:ext cx="3276600" cy="24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526577"/>
                </a:solidFill>
                <a:latin typeface="Nanum Gothic"/>
                <a:ea typeface="Nanum Gothic"/>
                <a:cs typeface="Nanum Gothic"/>
                <a:sym typeface="Nanum Gothic"/>
              </a:rPr>
              <a:t>프로젝트 비전 검사 구역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9"/>
          <p:cNvSpPr/>
          <p:nvPr/>
        </p:nvSpPr>
        <p:spPr>
          <a:xfrm>
            <a:off x="685800" y="257175"/>
            <a:ext cx="10820400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75"/>
              <a:buFont typeface="Arial"/>
              <a:buNone/>
            </a:pPr>
            <a:r>
              <a:rPr b="1" i="0" lang="en-US" sz="3075" u="none" cap="none" strike="noStrike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PLC I/O 대조 확인과 전장 보조</a:t>
            </a:r>
            <a:endParaRPr b="0" i="0" sz="1400" u="none" cap="none" strike="noStrike">
              <a:solidFill>
                <a:srgbClr val="12283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0" name="Google Shape;370;p9"/>
          <p:cNvSpPr/>
          <p:nvPr/>
        </p:nvSpPr>
        <p:spPr>
          <a:xfrm>
            <a:off x="685800" y="876300"/>
            <a:ext cx="1082040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7C7C7C"/>
                </a:solidFill>
                <a:latin typeface="Nanum Gothic"/>
                <a:ea typeface="Nanum Gothic"/>
                <a:cs typeface="Nanum Gothic"/>
                <a:sym typeface="Nanum Gothic"/>
              </a:rPr>
              <a:t>본인이 실제로 수행한 현장 작업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1" name="Google Shape;371;p9"/>
          <p:cNvSpPr/>
          <p:nvPr/>
        </p:nvSpPr>
        <p:spPr>
          <a:xfrm>
            <a:off x="847725" y="1452563"/>
            <a:ext cx="10820400" cy="4810200"/>
          </a:xfrm>
          <a:prstGeom prst="roundRect">
            <a:avLst>
              <a:gd fmla="val 2376" name="adj"/>
            </a:avLst>
          </a:prstGeom>
          <a:solidFill>
            <a:srgbClr val="FFFFFF"/>
          </a:solidFill>
          <a:ln cap="flat" cmpd="sng" w="9525">
            <a:solidFill>
              <a:srgbClr val="CDD5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2" name="Google Shape;372;p9"/>
          <p:cNvSpPr/>
          <p:nvPr/>
        </p:nvSpPr>
        <p:spPr>
          <a:xfrm>
            <a:off x="1047750" y="1714500"/>
            <a:ext cx="9715500" cy="3143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25"/>
              <a:buFont typeface="Arial"/>
              <a:buNone/>
            </a:pPr>
            <a:r>
              <a:rPr b="1" i="0" lang="en-US" sz="1725" u="none" cap="none" strike="noStrike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참여 내용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3" name="Google Shape;373;p9"/>
          <p:cNvSpPr/>
          <p:nvPr/>
        </p:nvSpPr>
        <p:spPr>
          <a:xfrm>
            <a:off x="1047750" y="2352675"/>
            <a:ext cx="66675" cy="66675"/>
          </a:xfrm>
          <a:prstGeom prst="ellipse">
            <a:avLst/>
          </a:prstGeom>
          <a:solidFill>
            <a:srgbClr val="167D9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4" name="Google Shape;374;p9"/>
          <p:cNvSpPr/>
          <p:nvPr/>
        </p:nvSpPr>
        <p:spPr>
          <a:xfrm>
            <a:off x="1219200" y="2276475"/>
            <a:ext cx="626745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5"/>
              <a:buFont typeface="Arial"/>
              <a:buNone/>
            </a:pPr>
            <a:r>
              <a:rPr b="1" i="0" lang="en-US" sz="1575" u="none" cap="none" strike="noStrike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실제 I/O와 PLC 입출력 대조</a:t>
            </a:r>
            <a:endParaRPr b="0" i="0" sz="1400" u="none" cap="none" strike="noStrike">
              <a:solidFill>
                <a:srgbClr val="12283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5" name="Google Shape;375;p9"/>
          <p:cNvSpPr/>
          <p:nvPr/>
        </p:nvSpPr>
        <p:spPr>
          <a:xfrm>
            <a:off x="1381125" y="2571750"/>
            <a:ext cx="6029325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5"/>
              <a:buFont typeface="Arial"/>
              <a:buNone/>
            </a:pPr>
            <a:r>
              <a:rPr b="0" i="0" lang="en-US" sz="1425" u="none" cap="none" strike="noStrike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전장에 연결된 실제 I/O 리스트와 PLC 입출력을</a:t>
            </a:r>
            <a:endParaRPr b="0" i="0" sz="1400" u="none" cap="none" strike="noStrike">
              <a:solidFill>
                <a:srgbClr val="12283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5"/>
              <a:buFont typeface="Arial"/>
              <a:buNone/>
            </a:pPr>
            <a:r>
              <a:rPr b="0" i="0" lang="en-US" sz="1425" u="none" cap="none" strike="noStrike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PLC 담당자와 함께 대조 확인</a:t>
            </a:r>
            <a:endParaRPr b="0" i="0" sz="1400" u="none" cap="none" strike="noStrike">
              <a:solidFill>
                <a:srgbClr val="12283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6" name="Google Shape;376;p9"/>
          <p:cNvSpPr/>
          <p:nvPr/>
        </p:nvSpPr>
        <p:spPr>
          <a:xfrm>
            <a:off x="1047750" y="3333750"/>
            <a:ext cx="66675" cy="66675"/>
          </a:xfrm>
          <a:prstGeom prst="ellipse">
            <a:avLst/>
          </a:prstGeom>
          <a:solidFill>
            <a:srgbClr val="167D9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9"/>
          <p:cNvSpPr/>
          <p:nvPr/>
        </p:nvSpPr>
        <p:spPr>
          <a:xfrm>
            <a:off x="1219200" y="3257550"/>
            <a:ext cx="62676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5"/>
              <a:buFont typeface="Arial"/>
              <a:buNone/>
            </a:pPr>
            <a:r>
              <a:rPr b="1" i="0" lang="en-US" sz="1575" u="none" cap="none" strike="noStrike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래더 구조와 동작 방식 학습</a:t>
            </a:r>
            <a:endParaRPr b="0" i="0" sz="1400" u="none" cap="none" strike="noStrike">
              <a:solidFill>
                <a:srgbClr val="12283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9"/>
          <p:cNvSpPr/>
          <p:nvPr/>
        </p:nvSpPr>
        <p:spPr>
          <a:xfrm>
            <a:off x="1381125" y="3552825"/>
            <a:ext cx="6029325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5"/>
              <a:buFont typeface="Arial"/>
              <a:buNone/>
            </a:pPr>
            <a:r>
              <a:rPr b="0" i="0" lang="en-US" sz="1425" u="none" cap="none" strike="noStrike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래더 직접 작성 없이 중간·종료 후 구조를 별도 학습</a:t>
            </a:r>
            <a:endParaRPr b="0" i="0" sz="1400" u="none" cap="none" strike="noStrike">
              <a:solidFill>
                <a:srgbClr val="12283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5"/>
              <a:buFont typeface="Arial"/>
              <a:buNone/>
            </a:pPr>
            <a:r>
              <a:rPr b="0" i="0" lang="en-US" sz="1425" u="none" cap="none" strike="noStrike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담당자의 설명을 통해 동작 방식 이해</a:t>
            </a:r>
            <a:endParaRPr b="0" i="0" sz="1400" u="none" cap="none" strike="noStrike">
              <a:solidFill>
                <a:srgbClr val="12283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9"/>
          <p:cNvSpPr/>
          <p:nvPr/>
        </p:nvSpPr>
        <p:spPr>
          <a:xfrm>
            <a:off x="1047750" y="4314825"/>
            <a:ext cx="66675" cy="66675"/>
          </a:xfrm>
          <a:prstGeom prst="ellipse">
            <a:avLst/>
          </a:prstGeom>
          <a:solidFill>
            <a:srgbClr val="167D9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9"/>
          <p:cNvSpPr/>
          <p:nvPr/>
        </p:nvSpPr>
        <p:spPr>
          <a:xfrm>
            <a:off x="1219200" y="4238625"/>
            <a:ext cx="626745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5"/>
              <a:buFont typeface="Arial"/>
              <a:buNone/>
            </a:pPr>
            <a:r>
              <a:rPr b="1" i="0" lang="en-US" sz="1575" u="none" cap="none" strike="noStrike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배선 연결과 모터 납땜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1" name="Google Shape;381;p9"/>
          <p:cNvSpPr/>
          <p:nvPr/>
        </p:nvSpPr>
        <p:spPr>
          <a:xfrm>
            <a:off x="1381125" y="4533900"/>
            <a:ext cx="6029325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5"/>
              <a:buFont typeface="Arial"/>
              <a:buNone/>
            </a:pPr>
            <a:r>
              <a:rPr b="0" i="0" lang="en-US" sz="1425" u="none" cap="none" strike="noStrike">
                <a:solidFill>
                  <a:srgbClr val="435261"/>
                </a:solidFill>
                <a:latin typeface="Nanum Gothic"/>
                <a:ea typeface="Nanum Gothic"/>
                <a:cs typeface="Nanum Gothic"/>
                <a:sym typeface="Nanum Gothic"/>
              </a:rPr>
              <a:t>전장 담당자의 배선 지시에 맞추어 연결 작업 및 모터 납땜 지원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2" name="Google Shape;382;p9"/>
          <p:cNvSpPr/>
          <p:nvPr/>
        </p:nvSpPr>
        <p:spPr>
          <a:xfrm>
            <a:off x="5400363" y="4976075"/>
            <a:ext cx="3257700" cy="21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57585"/>
                </a:solidFill>
                <a:latin typeface="Nanum Gothic"/>
                <a:ea typeface="Nanum Gothic"/>
                <a:cs typeface="Nanum Gothic"/>
                <a:sym typeface="Nanum Gothic"/>
              </a:rPr>
              <a:t>PLC MAIN 래더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3" name="Google Shape;383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06590" y="1752489"/>
            <a:ext cx="2520002" cy="1259999"/>
          </a:xfrm>
          <a:prstGeom prst="rect">
            <a:avLst/>
          </a:prstGeom>
          <a:noFill/>
          <a:ln>
            <a:noFill/>
          </a:ln>
        </p:spPr>
      </p:pic>
      <p:sp>
        <p:nvSpPr>
          <p:cNvPr id="384" name="Google Shape;384;p9"/>
          <p:cNvSpPr/>
          <p:nvPr/>
        </p:nvSpPr>
        <p:spPr>
          <a:xfrm>
            <a:off x="5933113" y="3143226"/>
            <a:ext cx="3257700" cy="21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57585"/>
                </a:solidFill>
                <a:latin typeface="Nanum Gothic"/>
                <a:ea typeface="Nanum Gothic"/>
                <a:cs typeface="Nanum Gothic"/>
                <a:sym typeface="Nanum Gothic"/>
              </a:rPr>
              <a:t>I/O 리스트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5" name="Google Shape;385;p9"/>
          <p:cNvSpPr/>
          <p:nvPr/>
        </p:nvSpPr>
        <p:spPr>
          <a:xfrm>
            <a:off x="1047750" y="5505450"/>
            <a:ext cx="161925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5"/>
              <a:buFont typeface="Arial"/>
              <a:buNone/>
            </a:pPr>
            <a:r>
              <a:rPr b="1" i="0" lang="en-US" sz="1425" u="none" cap="none" strike="noStrike">
                <a:solidFill>
                  <a:srgbClr val="171717"/>
                </a:solidFill>
                <a:latin typeface="Nanum Gothic"/>
                <a:ea typeface="Nanum Gothic"/>
                <a:cs typeface="Nanum Gothic"/>
                <a:sym typeface="Nanum Gothic"/>
              </a:rPr>
              <a:t>사용 기술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6" name="Google Shape;386;p9"/>
          <p:cNvSpPr/>
          <p:nvPr/>
        </p:nvSpPr>
        <p:spPr>
          <a:xfrm>
            <a:off x="1047750" y="5848350"/>
            <a:ext cx="1181100" cy="266700"/>
          </a:xfrm>
          <a:prstGeom prst="roundRect">
            <a:avLst>
              <a:gd fmla="val 35714" name="adj"/>
            </a:avLst>
          </a:prstGeom>
          <a:solidFill>
            <a:srgbClr val="E8EE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7" name="Google Shape;387;p9"/>
          <p:cNvSpPr/>
          <p:nvPr/>
        </p:nvSpPr>
        <p:spPr>
          <a:xfrm>
            <a:off x="1123950" y="5886450"/>
            <a:ext cx="10287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7B2CBF"/>
                </a:solidFill>
                <a:latin typeface="Nanum Gothic"/>
                <a:ea typeface="Nanum Gothic"/>
                <a:cs typeface="Nanum Gothic"/>
                <a:sym typeface="Nanum Gothic"/>
              </a:rPr>
              <a:t>래더 학습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8" name="Google Shape;388;p9"/>
          <p:cNvSpPr/>
          <p:nvPr/>
        </p:nvSpPr>
        <p:spPr>
          <a:xfrm>
            <a:off x="2314575" y="5848350"/>
            <a:ext cx="781050" cy="266700"/>
          </a:xfrm>
          <a:prstGeom prst="roundRect">
            <a:avLst>
              <a:gd fmla="val 35714" name="adj"/>
            </a:avLst>
          </a:prstGeom>
          <a:solidFill>
            <a:srgbClr val="E8EE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9" name="Google Shape;389;p9"/>
          <p:cNvSpPr/>
          <p:nvPr/>
        </p:nvSpPr>
        <p:spPr>
          <a:xfrm>
            <a:off x="2390775" y="5886450"/>
            <a:ext cx="62865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263E54"/>
                </a:solidFill>
                <a:latin typeface="Nanum Gothic"/>
                <a:ea typeface="Nanum Gothic"/>
                <a:cs typeface="Nanum Gothic"/>
                <a:sym typeface="Nanum Gothic"/>
              </a:rPr>
              <a:t>실린더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"/>
          <p:cNvSpPr/>
          <p:nvPr/>
        </p:nvSpPr>
        <p:spPr>
          <a:xfrm>
            <a:off x="3181350" y="5848350"/>
            <a:ext cx="647700" cy="266700"/>
          </a:xfrm>
          <a:prstGeom prst="roundRect">
            <a:avLst>
              <a:gd fmla="val 35714" name="adj"/>
            </a:avLst>
          </a:prstGeom>
          <a:solidFill>
            <a:srgbClr val="E8EE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1" name="Google Shape;391;p9"/>
          <p:cNvSpPr/>
          <p:nvPr/>
        </p:nvSpPr>
        <p:spPr>
          <a:xfrm>
            <a:off x="3257550" y="5886450"/>
            <a:ext cx="4953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263E54"/>
                </a:solidFill>
                <a:latin typeface="Nanum Gothic"/>
                <a:ea typeface="Nanum Gothic"/>
                <a:cs typeface="Nanum Gothic"/>
                <a:sym typeface="Nanum Gothic"/>
              </a:rPr>
              <a:t>센서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9"/>
          <p:cNvSpPr/>
          <p:nvPr/>
        </p:nvSpPr>
        <p:spPr>
          <a:xfrm>
            <a:off x="3914775" y="5848350"/>
            <a:ext cx="1047750" cy="266700"/>
          </a:xfrm>
          <a:prstGeom prst="roundRect">
            <a:avLst>
              <a:gd fmla="val 35714" name="adj"/>
            </a:avLst>
          </a:prstGeom>
          <a:solidFill>
            <a:srgbClr val="E8EE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3" name="Google Shape;393;p9"/>
          <p:cNvSpPr/>
          <p:nvPr/>
        </p:nvSpPr>
        <p:spPr>
          <a:xfrm>
            <a:off x="3990975" y="5886450"/>
            <a:ext cx="89535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263E54"/>
                </a:solidFill>
                <a:latin typeface="Nanum Gothic"/>
                <a:ea typeface="Nanum Gothic"/>
                <a:cs typeface="Nanum Gothic"/>
                <a:sym typeface="Nanum Gothic"/>
              </a:rPr>
              <a:t>배선 연결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4" name="Google Shape;394;p9"/>
          <p:cNvSpPr/>
          <p:nvPr/>
        </p:nvSpPr>
        <p:spPr>
          <a:xfrm>
            <a:off x="5048250" y="5848350"/>
            <a:ext cx="647700" cy="266700"/>
          </a:xfrm>
          <a:prstGeom prst="roundRect">
            <a:avLst>
              <a:gd fmla="val 35714" name="adj"/>
            </a:avLst>
          </a:prstGeom>
          <a:solidFill>
            <a:srgbClr val="E8EE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5" name="Google Shape;395;p9"/>
          <p:cNvSpPr/>
          <p:nvPr/>
        </p:nvSpPr>
        <p:spPr>
          <a:xfrm>
            <a:off x="5124450" y="5886450"/>
            <a:ext cx="4953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263E54"/>
                </a:solidFill>
                <a:latin typeface="Nanum Gothic"/>
                <a:ea typeface="Nanum Gothic"/>
                <a:cs typeface="Nanum Gothic"/>
                <a:sym typeface="Nanum Gothic"/>
              </a:rPr>
              <a:t>납땜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6" name="Google Shape;396;p9"/>
          <p:cNvSpPr/>
          <p:nvPr/>
        </p:nvSpPr>
        <p:spPr>
          <a:xfrm>
            <a:off x="11334750" y="6505575"/>
            <a:ext cx="333375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99999"/>
                </a:solidFill>
                <a:latin typeface="Nanum Gothic"/>
                <a:ea typeface="Nanum Gothic"/>
                <a:cs typeface="Nanum Gothic"/>
                <a:sym typeface="Nanum Gothic"/>
              </a:rPr>
              <a:t>09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7" name="Google Shape;397;p9" title="main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262121" y="3699087"/>
            <a:ext cx="1440000" cy="1079999"/>
          </a:xfrm>
          <a:prstGeom prst="rect">
            <a:avLst/>
          </a:prstGeom>
          <a:noFill/>
          <a:ln>
            <a:noFill/>
          </a:ln>
        </p:spPr>
      </p:pic>
      <p:pic>
        <p:nvPicPr>
          <p:cNvPr id="398" name="Google Shape;398;p9" title="robo.png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158109" y="3732312"/>
            <a:ext cx="1440000" cy="10800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DD5DE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399" name="Google Shape;399;p9"/>
          <p:cNvSpPr/>
          <p:nvPr/>
        </p:nvSpPr>
        <p:spPr>
          <a:xfrm>
            <a:off x="7251181" y="4976075"/>
            <a:ext cx="3257700" cy="21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57585"/>
                </a:solidFill>
                <a:latin typeface="Nanum Gothic"/>
                <a:ea typeface="Nanum Gothic"/>
                <a:cs typeface="Nanum Gothic"/>
                <a:sym typeface="Nanum Gothic"/>
              </a:rPr>
              <a:t>PLC ROBOT 래더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00" name="Google Shape;400;p9" title="vision.png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054075" y="3727200"/>
            <a:ext cx="1440000" cy="10800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DD5DE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401" name="Google Shape;401;p9"/>
          <p:cNvSpPr/>
          <p:nvPr/>
        </p:nvSpPr>
        <p:spPr>
          <a:xfrm>
            <a:off x="9098125" y="4955955"/>
            <a:ext cx="3257700" cy="21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57585"/>
                </a:solidFill>
                <a:latin typeface="Nanum Gothic"/>
                <a:ea typeface="Nanum Gothic"/>
                <a:cs typeface="Nanum Gothic"/>
                <a:sym typeface="Nanum Gothic"/>
              </a:rPr>
              <a:t>PLC VISION 래더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02" name="Google Shape;402;p9" title="KakaoTalk_20261007_082632675.jpg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986200" y="1756009"/>
            <a:ext cx="2520003" cy="1260001"/>
          </a:xfrm>
          <a:prstGeom prst="rect">
            <a:avLst/>
          </a:prstGeom>
          <a:noFill/>
          <a:ln>
            <a:noFill/>
          </a:ln>
        </p:spPr>
      </p:pic>
      <p:sp>
        <p:nvSpPr>
          <p:cNvPr id="403" name="Google Shape;403;p9"/>
          <p:cNvSpPr/>
          <p:nvPr/>
        </p:nvSpPr>
        <p:spPr>
          <a:xfrm>
            <a:off x="8599666" y="3143226"/>
            <a:ext cx="3257700" cy="21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57585"/>
                </a:solidFill>
                <a:latin typeface="Nanum Gothic"/>
                <a:ea typeface="Nanum Gothic"/>
                <a:cs typeface="Nanum Gothic"/>
                <a:sym typeface="Nanum Gothic"/>
              </a:rPr>
              <a:t>전장 보조전 기초교육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10"/>
          <p:cNvSpPr/>
          <p:nvPr/>
        </p:nvSpPr>
        <p:spPr>
          <a:xfrm>
            <a:off x="685800" y="257175"/>
            <a:ext cx="10820400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75"/>
              <a:buFont typeface="Arial"/>
              <a:buNone/>
            </a:pPr>
            <a:r>
              <a:rPr b="1" i="0" lang="en-US" sz="3075" u="none" cap="none" strike="noStrike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앞으로의 학습과 실습 계획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0" name="Google Shape;410;p10"/>
          <p:cNvSpPr/>
          <p:nvPr/>
        </p:nvSpPr>
        <p:spPr>
          <a:xfrm>
            <a:off x="685800" y="876300"/>
            <a:ext cx="1082040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7C7C7C"/>
                </a:solidFill>
                <a:latin typeface="Nanum Gothic"/>
                <a:ea typeface="Nanum Gothic"/>
                <a:cs typeface="Nanum Gothic"/>
                <a:sym typeface="Nanum Gothic"/>
              </a:rPr>
              <a:t>한 번에 작은 실험을 완성하고 기록하는 방식으로 보완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1" name="Google Shape;411;p10"/>
          <p:cNvSpPr/>
          <p:nvPr/>
        </p:nvSpPr>
        <p:spPr>
          <a:xfrm>
            <a:off x="914400" y="1438275"/>
            <a:ext cx="10820400" cy="4810125"/>
          </a:xfrm>
          <a:prstGeom prst="roundRect">
            <a:avLst>
              <a:gd fmla="val 2376" name="adj"/>
            </a:avLst>
          </a:prstGeom>
          <a:solidFill>
            <a:srgbClr val="FFFFFF"/>
          </a:solidFill>
          <a:ln cap="flat" cmpd="sng" w="9525">
            <a:solidFill>
              <a:srgbClr val="CDD5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2" name="Google Shape;412;p10"/>
          <p:cNvSpPr/>
          <p:nvPr/>
        </p:nvSpPr>
        <p:spPr>
          <a:xfrm>
            <a:off x="1047750" y="1714500"/>
            <a:ext cx="9715500" cy="3143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25"/>
              <a:buFont typeface="Arial"/>
              <a:buNone/>
            </a:pPr>
            <a:r>
              <a:rPr b="1" i="0" lang="en-US" sz="1725" u="none" cap="none" strike="noStrike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실행 계획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10"/>
          <p:cNvSpPr/>
          <p:nvPr/>
        </p:nvSpPr>
        <p:spPr>
          <a:xfrm>
            <a:off x="1047750" y="2352675"/>
            <a:ext cx="66675" cy="66675"/>
          </a:xfrm>
          <a:prstGeom prst="ellipse">
            <a:avLst/>
          </a:prstGeom>
          <a:solidFill>
            <a:srgbClr val="167D9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4" name="Google Shape;414;p10"/>
          <p:cNvSpPr/>
          <p:nvPr/>
        </p:nvSpPr>
        <p:spPr>
          <a:xfrm>
            <a:off x="1219200" y="2276475"/>
            <a:ext cx="626745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5"/>
              <a:buFont typeface="Arial"/>
              <a:buNone/>
            </a:pPr>
            <a:r>
              <a:rPr b="1" i="0" lang="en-US" sz="1575" u="none" cap="none" strike="noStrike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기초 단계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5" name="Google Shape;415;p10"/>
          <p:cNvSpPr/>
          <p:nvPr/>
        </p:nvSpPr>
        <p:spPr>
          <a:xfrm>
            <a:off x="1381125" y="2571750"/>
            <a:ext cx="6029400" cy="5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5"/>
              <a:buFont typeface="Arial"/>
              <a:buNone/>
            </a:pPr>
            <a:r>
              <a:rPr lang="en-US" sz="1425">
                <a:solidFill>
                  <a:srgbClr val="435261"/>
                </a:solidFill>
                <a:latin typeface="Nanum Gothic"/>
                <a:ea typeface="Nanum Gothic"/>
                <a:cs typeface="Nanum Gothic"/>
                <a:sym typeface="Nanum Gothic"/>
              </a:rPr>
              <a:t>추가 공정 또는 조건에 따른 이미지 추가 및 증강</a:t>
            </a:r>
            <a:endParaRPr sz="1425">
              <a:solidFill>
                <a:srgbClr val="435261"/>
              </a:solidFill>
              <a:latin typeface="Nanum Gothic"/>
              <a:ea typeface="Nanum Gothic"/>
              <a:cs typeface="Nanum Gothic"/>
              <a:sym typeface="Nanum Gothic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5"/>
              <a:buFont typeface="Arial"/>
              <a:buNone/>
            </a:pPr>
            <a:r>
              <a:rPr b="0" i="0" lang="en-US" sz="1425" u="none" cap="none" strike="noStrike">
                <a:solidFill>
                  <a:srgbClr val="435261"/>
                </a:solidFill>
                <a:latin typeface="Nanum Gothic"/>
                <a:ea typeface="Nanum Gothic"/>
                <a:cs typeface="Nanum Gothic"/>
                <a:sym typeface="Nanum Gothic"/>
              </a:rPr>
              <a:t>라벨링·학습·추론까지 다시 완성</a:t>
            </a:r>
            <a:r>
              <a:rPr lang="en-US"/>
              <a:t> </a:t>
            </a:r>
            <a:r>
              <a:rPr b="0" i="0" lang="en-US" sz="1425" u="none" cap="none" strike="noStrike">
                <a:solidFill>
                  <a:srgbClr val="435261"/>
                </a:solidFill>
                <a:latin typeface="Nanum Gothic"/>
                <a:ea typeface="Nanum Gothic"/>
                <a:cs typeface="Nanum Gothic"/>
                <a:sym typeface="Nanum Gothic"/>
              </a:rPr>
              <a:t>각 단계의 입력 파일과 결과, 설정값을 정리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6" name="Google Shape;416;p10"/>
          <p:cNvSpPr/>
          <p:nvPr/>
        </p:nvSpPr>
        <p:spPr>
          <a:xfrm>
            <a:off x="1047750" y="3333750"/>
            <a:ext cx="66675" cy="66675"/>
          </a:xfrm>
          <a:prstGeom prst="ellipse">
            <a:avLst/>
          </a:prstGeom>
          <a:solidFill>
            <a:srgbClr val="167D9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7" name="Google Shape;417;p10"/>
          <p:cNvSpPr/>
          <p:nvPr/>
        </p:nvSpPr>
        <p:spPr>
          <a:xfrm>
            <a:off x="1219200" y="3257550"/>
            <a:ext cx="626745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5"/>
              <a:buFont typeface="Arial"/>
              <a:buNone/>
            </a:pPr>
            <a:r>
              <a:rPr b="1" i="0" lang="en-US" sz="1575" u="none" cap="none" strike="noStrike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검증 단계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8" name="Google Shape;418;p10"/>
          <p:cNvSpPr/>
          <p:nvPr/>
        </p:nvSpPr>
        <p:spPr>
          <a:xfrm>
            <a:off x="1381125" y="3552825"/>
            <a:ext cx="6029325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5"/>
              <a:buFont typeface="Arial"/>
              <a:buNone/>
            </a:pPr>
            <a:r>
              <a:rPr b="0" i="0" lang="en-US" sz="1425" u="none" cap="none" strike="noStrike">
                <a:solidFill>
                  <a:srgbClr val="435261"/>
                </a:solidFill>
                <a:latin typeface="Nanum Gothic"/>
                <a:ea typeface="Nanum Gothic"/>
                <a:cs typeface="Nanum Gothic"/>
                <a:sym typeface="Nanum Gothic"/>
              </a:rPr>
              <a:t>별도 실제 촬영 이미지로 조건별 검사와 오류 유형 기록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5"/>
              <a:buFont typeface="Arial"/>
              <a:buNone/>
            </a:pPr>
            <a:r>
              <a:rPr b="0" i="0" lang="en-US" sz="1425" u="none" cap="none" strike="noStrike">
                <a:solidFill>
                  <a:srgbClr val="435261"/>
                </a:solidFill>
                <a:latin typeface="Nanum Gothic"/>
                <a:ea typeface="Nanum Gothic"/>
                <a:cs typeface="Nanum Gothic"/>
                <a:sym typeface="Nanum Gothic"/>
              </a:rPr>
              <a:t>카메라 번호 변경 및 재연결 상황에서 대상 매칭 확인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10"/>
          <p:cNvSpPr/>
          <p:nvPr/>
        </p:nvSpPr>
        <p:spPr>
          <a:xfrm>
            <a:off x="1047750" y="4314825"/>
            <a:ext cx="66675" cy="66675"/>
          </a:xfrm>
          <a:prstGeom prst="ellipse">
            <a:avLst/>
          </a:prstGeom>
          <a:solidFill>
            <a:srgbClr val="167D9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0" name="Google Shape;420;p10"/>
          <p:cNvSpPr/>
          <p:nvPr/>
        </p:nvSpPr>
        <p:spPr>
          <a:xfrm>
            <a:off x="1219200" y="4238625"/>
            <a:ext cx="626745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5"/>
              <a:buFont typeface="Arial"/>
              <a:buNone/>
            </a:pPr>
            <a:r>
              <a:rPr b="1" i="0" lang="en-US" sz="1575" u="none" cap="none" strike="noStrike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설비 연동 단계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1" name="Google Shape;421;p10"/>
          <p:cNvSpPr/>
          <p:nvPr/>
        </p:nvSpPr>
        <p:spPr>
          <a:xfrm>
            <a:off x="1381125" y="4533900"/>
            <a:ext cx="6029325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5"/>
              <a:buFont typeface="Arial"/>
              <a:buNone/>
            </a:pPr>
            <a:r>
              <a:rPr b="0" i="0" lang="en-US" sz="1425" u="none" cap="none" strike="noStrike">
                <a:solidFill>
                  <a:srgbClr val="435261"/>
                </a:solidFill>
                <a:latin typeface="Nanum Gothic"/>
                <a:ea typeface="Nanum Gothic"/>
                <a:cs typeface="Nanum Gothic"/>
                <a:sym typeface="Nanum Gothic"/>
              </a:rPr>
              <a:t>시작·완료·오류·리셋 조건을 문서로 정리하고 PLC 동작과 비교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5"/>
              <a:buFont typeface="Arial"/>
              <a:buNone/>
            </a:pPr>
            <a:r>
              <a:rPr b="0" i="0" lang="en-US" sz="1425" u="none" cap="none" strike="noStrike">
                <a:solidFill>
                  <a:srgbClr val="435261"/>
                </a:solidFill>
                <a:latin typeface="Nanum Gothic"/>
                <a:ea typeface="Nanum Gothic"/>
                <a:cs typeface="Nanum Gothic"/>
                <a:sym typeface="Nanum Gothic"/>
              </a:rPr>
              <a:t>래더 읽기와 센서·실린더 동작 확인 실습 지속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2" name="Google Shape;422;p10"/>
          <p:cNvSpPr/>
          <p:nvPr/>
        </p:nvSpPr>
        <p:spPr>
          <a:xfrm>
            <a:off x="8020050" y="2057400"/>
            <a:ext cx="32766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5"/>
              <a:buFont typeface="Arial"/>
              <a:buNone/>
            </a:pPr>
            <a:r>
              <a:rPr b="1" i="0" lang="en-US" sz="1425" u="none" cap="none" strike="noStrike">
                <a:solidFill>
                  <a:srgbClr val="7B2CBF"/>
                </a:solidFill>
                <a:latin typeface="Nanum Gothic"/>
                <a:ea typeface="Nanum Gothic"/>
                <a:cs typeface="Nanum Gothic"/>
                <a:sym typeface="Nanum Gothic"/>
              </a:rPr>
              <a:t>제출 전 확인할 사항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3" name="Google Shape;423;p10"/>
          <p:cNvSpPr/>
          <p:nvPr/>
        </p:nvSpPr>
        <p:spPr>
          <a:xfrm>
            <a:off x="8020050" y="2428875"/>
            <a:ext cx="3276600" cy="590550"/>
          </a:xfrm>
          <a:prstGeom prst="rect">
            <a:avLst/>
          </a:prstGeom>
          <a:solidFill>
            <a:srgbClr val="F0F5F7"/>
          </a:solidFill>
          <a:ln cap="flat" cmpd="sng" w="9525">
            <a:solidFill>
              <a:srgbClr val="C7D8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4" name="Google Shape;424;p10"/>
          <p:cNvSpPr/>
          <p:nvPr/>
        </p:nvSpPr>
        <p:spPr>
          <a:xfrm>
            <a:off x="8143875" y="2533650"/>
            <a:ext cx="361950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67D91"/>
                </a:solidFill>
                <a:latin typeface="Nanum Gothic"/>
                <a:ea typeface="Nanum Gothic"/>
                <a:cs typeface="Nanum Gothic"/>
                <a:sym typeface="Nanum Gothic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5" name="Google Shape;425;p10"/>
          <p:cNvSpPr/>
          <p:nvPr/>
        </p:nvSpPr>
        <p:spPr>
          <a:xfrm>
            <a:off x="8572500" y="2505075"/>
            <a:ext cx="2628900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5"/>
              <a:buFont typeface="Arial"/>
              <a:buNone/>
            </a:pPr>
            <a:r>
              <a:rPr b="1" i="0" lang="en-US" sz="1425" u="none" cap="none" strike="noStrike">
                <a:solidFill>
                  <a:srgbClr val="7B2CBF"/>
                </a:solidFill>
                <a:latin typeface="Nanum Gothic"/>
                <a:ea typeface="Nanum Gothic"/>
                <a:cs typeface="Nanum Gothic"/>
                <a:sym typeface="Nanum Gothic"/>
              </a:rPr>
              <a:t>YOLO 평가 근거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6" name="Google Shape;426;p10"/>
          <p:cNvSpPr/>
          <p:nvPr/>
        </p:nvSpPr>
        <p:spPr>
          <a:xfrm>
            <a:off x="8572500" y="2752725"/>
            <a:ext cx="2628900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7B2CBF"/>
                </a:solidFill>
                <a:latin typeface="Nanum Gothic"/>
                <a:ea typeface="Nanum Gothic"/>
                <a:cs typeface="Nanum Gothic"/>
                <a:sym typeface="Nanum Gothic"/>
              </a:rPr>
              <a:t>약 90% 확인 이미지 수·조건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"/>
          <p:cNvSpPr/>
          <p:nvPr/>
        </p:nvSpPr>
        <p:spPr>
          <a:xfrm>
            <a:off x="9629775" y="3019425"/>
            <a:ext cx="19050" cy="133350"/>
          </a:xfrm>
          <a:prstGeom prst="rect">
            <a:avLst/>
          </a:prstGeom>
          <a:solidFill>
            <a:srgbClr val="167D9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8" name="Google Shape;428;p10"/>
          <p:cNvSpPr/>
          <p:nvPr/>
        </p:nvSpPr>
        <p:spPr>
          <a:xfrm>
            <a:off x="8020050" y="3152775"/>
            <a:ext cx="3276600" cy="590550"/>
          </a:xfrm>
          <a:prstGeom prst="rect">
            <a:avLst/>
          </a:prstGeom>
          <a:solidFill>
            <a:srgbClr val="F0F5F7"/>
          </a:solidFill>
          <a:ln cap="flat" cmpd="sng" w="9525">
            <a:solidFill>
              <a:srgbClr val="C7D8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"/>
          <p:cNvSpPr/>
          <p:nvPr/>
        </p:nvSpPr>
        <p:spPr>
          <a:xfrm>
            <a:off x="8143875" y="3257550"/>
            <a:ext cx="361950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67D91"/>
                </a:solidFill>
                <a:latin typeface="Nanum Gothic"/>
                <a:ea typeface="Nanum Gothic"/>
                <a:cs typeface="Nanum Gothic"/>
                <a:sym typeface="Nanum Gothic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10"/>
          <p:cNvSpPr/>
          <p:nvPr/>
        </p:nvSpPr>
        <p:spPr>
          <a:xfrm>
            <a:off x="8572500" y="3228975"/>
            <a:ext cx="2628900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5"/>
              <a:buFont typeface="Arial"/>
              <a:buNone/>
            </a:pPr>
            <a:r>
              <a:rPr b="1" i="0" lang="en-US" sz="1425" u="none" cap="none" strike="noStrike">
                <a:solidFill>
                  <a:srgbClr val="7B2CBF"/>
                </a:solidFill>
                <a:latin typeface="Nanum Gothic"/>
                <a:ea typeface="Nanum Gothic"/>
                <a:cs typeface="Nanum Gothic"/>
                <a:sym typeface="Nanum Gothic"/>
              </a:rPr>
              <a:t>밸브와 I/O 항목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10"/>
          <p:cNvSpPr/>
          <p:nvPr/>
        </p:nvSpPr>
        <p:spPr>
          <a:xfrm>
            <a:off x="8572500" y="3476625"/>
            <a:ext cx="2628900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7B2CBF"/>
                </a:solidFill>
                <a:latin typeface="Nanum Gothic"/>
                <a:ea typeface="Nanum Gothic"/>
                <a:cs typeface="Nanum Gothic"/>
                <a:sym typeface="Nanum Gothic"/>
              </a:rPr>
              <a:t>스토퍼 편솔·양솔 및 대표 I/O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2" name="Google Shape;432;p10"/>
          <p:cNvSpPr/>
          <p:nvPr/>
        </p:nvSpPr>
        <p:spPr>
          <a:xfrm>
            <a:off x="9629775" y="3743325"/>
            <a:ext cx="19050" cy="133350"/>
          </a:xfrm>
          <a:prstGeom prst="rect">
            <a:avLst/>
          </a:prstGeom>
          <a:solidFill>
            <a:srgbClr val="167D9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3" name="Google Shape;433;p10"/>
          <p:cNvSpPr/>
          <p:nvPr/>
        </p:nvSpPr>
        <p:spPr>
          <a:xfrm>
            <a:off x="8020050" y="3876675"/>
            <a:ext cx="3276600" cy="590550"/>
          </a:xfrm>
          <a:prstGeom prst="rect">
            <a:avLst/>
          </a:prstGeom>
          <a:solidFill>
            <a:srgbClr val="F0F5F7"/>
          </a:solidFill>
          <a:ln cap="flat" cmpd="sng" w="9525">
            <a:solidFill>
              <a:srgbClr val="C7D8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10"/>
          <p:cNvSpPr/>
          <p:nvPr/>
        </p:nvSpPr>
        <p:spPr>
          <a:xfrm>
            <a:off x="8143875" y="3981450"/>
            <a:ext cx="361950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67D91"/>
                </a:solidFill>
                <a:latin typeface="Nanum Gothic"/>
                <a:ea typeface="Nanum Gothic"/>
                <a:cs typeface="Nanum Gothic"/>
                <a:sym typeface="Nanum Gothic"/>
              </a:rPr>
              <a:t>03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5" name="Google Shape;435;p10"/>
          <p:cNvSpPr/>
          <p:nvPr/>
        </p:nvSpPr>
        <p:spPr>
          <a:xfrm>
            <a:off x="8572500" y="3952875"/>
            <a:ext cx="2628900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5"/>
              <a:buFont typeface="Arial"/>
              <a:buNone/>
            </a:pPr>
            <a:r>
              <a:rPr b="1" i="0" lang="en-US" sz="1425" u="none" cap="none" strike="noStrike">
                <a:solidFill>
                  <a:srgbClr val="7B2CBF"/>
                </a:solidFill>
                <a:latin typeface="Nanum Gothic"/>
                <a:ea typeface="Nanum Gothic"/>
                <a:cs typeface="Nanum Gothic"/>
                <a:sym typeface="Nanum Gothic"/>
              </a:rPr>
              <a:t>PLC 역할 표현 반영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6" name="Google Shape;436;p10"/>
          <p:cNvSpPr/>
          <p:nvPr/>
        </p:nvSpPr>
        <p:spPr>
          <a:xfrm>
            <a:off x="8572500" y="4200525"/>
            <a:ext cx="2628900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7B2CBF"/>
                </a:solidFill>
                <a:latin typeface="Nanum Gothic"/>
                <a:ea typeface="Nanum Gothic"/>
                <a:cs typeface="Nanum Gothic"/>
                <a:sym typeface="Nanum Gothic"/>
              </a:rPr>
              <a:t>I/O 대조·구조 학습으로 수정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7" name="Google Shape;437;p10"/>
          <p:cNvSpPr/>
          <p:nvPr/>
        </p:nvSpPr>
        <p:spPr>
          <a:xfrm>
            <a:off x="1047750" y="5505450"/>
            <a:ext cx="161925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5"/>
              <a:buFont typeface="Arial"/>
              <a:buNone/>
            </a:pPr>
            <a:r>
              <a:rPr b="1" i="0" lang="en-US" sz="1425" u="none" cap="none" strike="noStrike">
                <a:solidFill>
                  <a:srgbClr val="171717"/>
                </a:solidFill>
                <a:latin typeface="Nanum Gothic"/>
                <a:ea typeface="Nanum Gothic"/>
                <a:cs typeface="Nanum Gothic"/>
                <a:sym typeface="Nanum Gothic"/>
              </a:rPr>
              <a:t>보완 항목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10"/>
          <p:cNvSpPr/>
          <p:nvPr/>
        </p:nvSpPr>
        <p:spPr>
          <a:xfrm>
            <a:off x="1047750" y="5848350"/>
            <a:ext cx="1581150" cy="266700"/>
          </a:xfrm>
          <a:prstGeom prst="roundRect">
            <a:avLst>
              <a:gd fmla="val 35714" name="adj"/>
            </a:avLst>
          </a:prstGeom>
          <a:solidFill>
            <a:srgbClr val="E8EE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10"/>
          <p:cNvSpPr/>
          <p:nvPr/>
        </p:nvSpPr>
        <p:spPr>
          <a:xfrm>
            <a:off x="1123950" y="5886450"/>
            <a:ext cx="142875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263E54"/>
                </a:solidFill>
                <a:latin typeface="Nanum Gothic"/>
                <a:ea typeface="Nanum Gothic"/>
                <a:cs typeface="Nanum Gothic"/>
                <a:sym typeface="Nanum Gothic"/>
              </a:rPr>
              <a:t>Python 학습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0" name="Google Shape;440;p10"/>
          <p:cNvSpPr/>
          <p:nvPr/>
        </p:nvSpPr>
        <p:spPr>
          <a:xfrm>
            <a:off x="2714625" y="5848350"/>
            <a:ext cx="1181100" cy="266700"/>
          </a:xfrm>
          <a:prstGeom prst="roundRect">
            <a:avLst>
              <a:gd fmla="val 35714" name="adj"/>
            </a:avLst>
          </a:prstGeom>
          <a:solidFill>
            <a:srgbClr val="E8EE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10"/>
          <p:cNvSpPr/>
          <p:nvPr/>
        </p:nvSpPr>
        <p:spPr>
          <a:xfrm>
            <a:off x="2790825" y="5886450"/>
            <a:ext cx="10287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263E54"/>
                </a:solidFill>
                <a:latin typeface="Nanum Gothic"/>
                <a:ea typeface="Nanum Gothic"/>
                <a:cs typeface="Nanum Gothic"/>
                <a:sym typeface="Nanum Gothic"/>
              </a:rPr>
              <a:t>데이터 검증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2" name="Google Shape;442;p10"/>
          <p:cNvSpPr/>
          <p:nvPr/>
        </p:nvSpPr>
        <p:spPr>
          <a:xfrm>
            <a:off x="3981450" y="5848350"/>
            <a:ext cx="1181100" cy="266700"/>
          </a:xfrm>
          <a:prstGeom prst="roundRect">
            <a:avLst>
              <a:gd fmla="val 35714" name="adj"/>
            </a:avLst>
          </a:prstGeom>
          <a:solidFill>
            <a:srgbClr val="E8EE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3" name="Google Shape;443;p10"/>
          <p:cNvSpPr/>
          <p:nvPr/>
        </p:nvSpPr>
        <p:spPr>
          <a:xfrm>
            <a:off x="4057650" y="5886450"/>
            <a:ext cx="10287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263E54"/>
                </a:solidFill>
                <a:latin typeface="Nanum Gothic"/>
                <a:ea typeface="Nanum Gothic"/>
                <a:cs typeface="Nanum Gothic"/>
                <a:sym typeface="Nanum Gothic"/>
              </a:rPr>
              <a:t>카메라 매칭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4" name="Google Shape;444;p10"/>
          <p:cNvSpPr/>
          <p:nvPr/>
        </p:nvSpPr>
        <p:spPr>
          <a:xfrm>
            <a:off x="5248275" y="5848350"/>
            <a:ext cx="1181100" cy="266700"/>
          </a:xfrm>
          <a:prstGeom prst="roundRect">
            <a:avLst>
              <a:gd fmla="val 35714" name="adj"/>
            </a:avLst>
          </a:prstGeom>
          <a:solidFill>
            <a:srgbClr val="E8EE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5" name="Google Shape;445;p10"/>
          <p:cNvSpPr/>
          <p:nvPr/>
        </p:nvSpPr>
        <p:spPr>
          <a:xfrm>
            <a:off x="5324475" y="5886450"/>
            <a:ext cx="10287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263E54"/>
                </a:solidFill>
                <a:latin typeface="Nanum Gothic"/>
                <a:ea typeface="Nanum Gothic"/>
                <a:cs typeface="Nanum Gothic"/>
                <a:sym typeface="Nanum Gothic"/>
              </a:rPr>
              <a:t>PLC 기초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6" name="Google Shape;446;p10"/>
          <p:cNvSpPr/>
          <p:nvPr/>
        </p:nvSpPr>
        <p:spPr>
          <a:xfrm>
            <a:off x="11334750" y="6505575"/>
            <a:ext cx="333375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99999"/>
                </a:solidFill>
                <a:latin typeface="Nanum Gothic"/>
                <a:ea typeface="Nanum Gothic"/>
                <a:cs typeface="Nanum Gothic"/>
                <a:sym typeface="Nanum Gothic"/>
              </a:rPr>
              <a:t>10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h61538c1e26207c7c_0_30"/>
          <p:cNvSpPr/>
          <p:nvPr/>
        </p:nvSpPr>
        <p:spPr>
          <a:xfrm>
            <a:off x="685800" y="257175"/>
            <a:ext cx="10820400" cy="5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75"/>
              <a:buFont typeface="Arial"/>
              <a:buNone/>
            </a:pPr>
            <a:r>
              <a:rPr b="1" i="0" lang="en-US" sz="3075" u="none" cap="none" strike="noStrike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전체 프로젝트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3" name="Google Shape;453;h61538c1e26207c7c_0_30"/>
          <p:cNvSpPr/>
          <p:nvPr/>
        </p:nvSpPr>
        <p:spPr>
          <a:xfrm>
            <a:off x="685800" y="876300"/>
            <a:ext cx="10820400" cy="333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7C7C7C"/>
                </a:solidFill>
                <a:latin typeface="Nanum Gothic"/>
                <a:ea typeface="Nanum Gothic"/>
                <a:cs typeface="Nanum Gothic"/>
                <a:sym typeface="Nanum Gothic"/>
              </a:rPr>
              <a:t>프로젝트 이미지 및 동영상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54" name="Google Shape;454;h61538c1e26207c7c_0_30" title="Capture_2026_1007_075501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91200" y="1274400"/>
            <a:ext cx="2520001" cy="144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55" name="Google Shape;455;h61538c1e26207c7c_0_30" title="2조_공정소개_v5_캡션있음.mp4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159811" y="3203274"/>
            <a:ext cx="5040000" cy="3429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56" name="Google Shape;456;h61538c1e26207c7c_0_30" title="KakaoTalk_20261001_161529062.png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416748" y="1274400"/>
            <a:ext cx="2520001" cy="1439999"/>
          </a:xfrm>
          <a:prstGeom prst="rect">
            <a:avLst/>
          </a:prstGeom>
          <a:noFill/>
          <a:ln>
            <a:noFill/>
          </a:ln>
        </p:spPr>
      </p:pic>
      <p:pic>
        <p:nvPicPr>
          <p:cNvPr id="457" name="Google Shape;457;h61538c1e26207c7c_0_30" title="스크린샷 2026-09-28 172219.png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22023" y="1274400"/>
            <a:ext cx="2520000" cy="144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58" name="Google Shape;458;h61538c1e26207c7c_0_3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8827301" y="1274400"/>
            <a:ext cx="2520000" cy="1440000"/>
          </a:xfrm>
          <a:prstGeom prst="rect">
            <a:avLst/>
          </a:prstGeom>
          <a:noFill/>
          <a:ln>
            <a:noFill/>
          </a:ln>
        </p:spPr>
      </p:pic>
      <p:sp>
        <p:nvSpPr>
          <p:cNvPr id="459" name="Google Shape;459;h61538c1e26207c7c_0_30"/>
          <p:cNvSpPr/>
          <p:nvPr/>
        </p:nvSpPr>
        <p:spPr>
          <a:xfrm>
            <a:off x="372063" y="2779200"/>
            <a:ext cx="3257700" cy="21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57585"/>
                </a:solidFill>
                <a:latin typeface="Nanum Gothic"/>
                <a:ea typeface="Nanum Gothic"/>
                <a:cs typeface="Nanum Gothic"/>
                <a:sym typeface="Nanum Gothic"/>
              </a:rPr>
              <a:t>워크구성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0" name="Google Shape;460;h61538c1e26207c7c_0_30"/>
          <p:cNvSpPr/>
          <p:nvPr/>
        </p:nvSpPr>
        <p:spPr>
          <a:xfrm>
            <a:off x="3081115" y="2779200"/>
            <a:ext cx="3257700" cy="21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57585"/>
                </a:solidFill>
                <a:latin typeface="Nanum Gothic"/>
                <a:ea typeface="Nanum Gothic"/>
                <a:cs typeface="Nanum Gothic"/>
                <a:sym typeface="Nanum Gothic"/>
              </a:rPr>
              <a:t>SCADA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1" name="Google Shape;461;h61538c1e26207c7c_0_30"/>
          <p:cNvSpPr/>
          <p:nvPr/>
        </p:nvSpPr>
        <p:spPr>
          <a:xfrm>
            <a:off x="5770605" y="2779200"/>
            <a:ext cx="3257700" cy="21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57585"/>
                </a:solidFill>
                <a:latin typeface="Nanum Gothic"/>
                <a:ea typeface="Nanum Gothic"/>
                <a:cs typeface="Nanum Gothic"/>
                <a:sym typeface="Nanum Gothic"/>
              </a:rPr>
              <a:t>HMI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h61538c1e26207c7c_0_30"/>
          <p:cNvSpPr/>
          <p:nvPr/>
        </p:nvSpPr>
        <p:spPr>
          <a:xfrm>
            <a:off x="8461794" y="2779200"/>
            <a:ext cx="3257700" cy="21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57585"/>
                </a:solidFill>
                <a:latin typeface="Nanum Gothic"/>
                <a:ea typeface="Nanum Gothic"/>
                <a:cs typeface="Nanum Gothic"/>
                <a:sym typeface="Nanum Gothic"/>
              </a:rPr>
              <a:t>EPLAN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h61538c1e26207c7c_0_30"/>
          <p:cNvSpPr/>
          <p:nvPr/>
        </p:nvSpPr>
        <p:spPr>
          <a:xfrm>
            <a:off x="-2211593" y="4363568"/>
            <a:ext cx="10820400" cy="5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75"/>
              <a:buFont typeface="Arial"/>
              <a:buNone/>
            </a:pPr>
            <a:r>
              <a:rPr b="1" i="0" lang="en-US" sz="3075" u="none" cap="none" strike="noStrike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프로젝트 </a:t>
            </a:r>
            <a:endParaRPr b="1" i="0" sz="3075" u="none" cap="none" strike="noStrike">
              <a:solidFill>
                <a:srgbClr val="12283F"/>
              </a:solidFill>
              <a:latin typeface="Nanum Gothic"/>
              <a:ea typeface="Nanum Gothic"/>
              <a:cs typeface="Nanum Gothic"/>
              <a:sym typeface="Nanum Gothic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75"/>
              <a:buFont typeface="Arial"/>
              <a:buNone/>
            </a:pPr>
            <a:r>
              <a:rPr b="1" i="0" lang="en-US" sz="3075" u="none" cap="none" strike="noStrike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공정 소개 동영상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