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f98e25b7dad452d" /><Relationship Type="http://schemas.openxmlformats.org/officeDocument/2006/relationships/extended-properties" Target="/docProps/app.xml" Id="R95ecd60fb72e4c53" /><Relationship Type="http://schemas.openxmlformats.org/officeDocument/2006/relationships/officeDocument" Target="/ppt/presentation.xml" Id="R327b052a258045c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2e5b74cff4a4960"/>
  </p:sldMasterIdLst>
  <p:notesMasterIdLst>
    <p:notesMasterId xmlns:r="http://schemas.openxmlformats.org/officeDocument/2006/relationships" r:id="R8aef0f3449344b02"/>
  </p:notesMasterIdLst>
  <p:sldIdLst>
    <p:sldId xmlns:r="http://schemas.openxmlformats.org/officeDocument/2006/relationships" id="256" r:id="R249e5067f1c54e83"/>
    <p:sldId xmlns:r="http://schemas.openxmlformats.org/officeDocument/2006/relationships" id="257" r:id="R08f05d2b2ba74091"/>
    <p:sldId xmlns:r="http://schemas.openxmlformats.org/officeDocument/2006/relationships" id="258" r:id="R2fb54ed01c7e47fd"/>
    <p:sldId xmlns:r="http://schemas.openxmlformats.org/officeDocument/2006/relationships" id="259" r:id="R97f8ede15c2a49ef"/>
    <p:sldId xmlns:r="http://schemas.openxmlformats.org/officeDocument/2006/relationships" id="260" r:id="Rea8febd7bcf94726"/>
    <p:sldId xmlns:r="http://schemas.openxmlformats.org/officeDocument/2006/relationships" id="261" r:id="R747ffbd8b0644f7a"/>
    <p:sldId xmlns:r="http://schemas.openxmlformats.org/officeDocument/2006/relationships" id="262" r:id="R7aa1df4182e34a4a"/>
    <p:sldId xmlns:r="http://schemas.openxmlformats.org/officeDocument/2006/relationships" id="263" r:id="R42122e3393314d75"/>
    <p:sldId xmlns:r="http://schemas.openxmlformats.org/officeDocument/2006/relationships" id="264" r:id="R37c17fd301d5497a"/>
    <p:sldId xmlns:r="http://schemas.openxmlformats.org/officeDocument/2006/relationships" id="265" r:id="R6fc1411efe2649e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880f13218cd497e" /><Relationship Type="http://schemas.openxmlformats.org/officeDocument/2006/relationships/slideMaster" Target="/ppt/slideMasters/slideMaster1.xml" Id="Ra2e5b74cff4a4960" /><Relationship Type="http://schemas.openxmlformats.org/officeDocument/2006/relationships/notesMaster" Target="/ppt/notesMasters/notesMaster1.xml" Id="R8aef0f3449344b02" /><Relationship Type="http://schemas.openxmlformats.org/officeDocument/2006/relationships/presProps" Target="/ppt/presProps.xml" Id="R9f96115ac6694e18" /><Relationship Type="http://schemas.openxmlformats.org/officeDocument/2006/relationships/tableStyles" Target="/ppt/tableStyles.xml" Id="R6b0d4f9ded6d4368" /><Relationship Type="http://schemas.openxmlformats.org/officeDocument/2006/relationships/slide" Target="/ppt/slides/slide1.xml" Id="R249e5067f1c54e83" /><Relationship Type="http://schemas.openxmlformats.org/officeDocument/2006/relationships/slide" Target="/ppt/slides/slide2.xml" Id="R08f05d2b2ba74091" /><Relationship Type="http://schemas.openxmlformats.org/officeDocument/2006/relationships/slide" Target="/ppt/slides/slide3.xml" Id="R2fb54ed01c7e47fd" /><Relationship Type="http://schemas.openxmlformats.org/officeDocument/2006/relationships/slide" Target="/ppt/slides/slide4.xml" Id="R97f8ede15c2a49ef" /><Relationship Type="http://schemas.openxmlformats.org/officeDocument/2006/relationships/slide" Target="/ppt/slides/slide5.xml" Id="Rea8febd7bcf94726" /><Relationship Type="http://schemas.openxmlformats.org/officeDocument/2006/relationships/slide" Target="/ppt/slides/slide6.xml" Id="R747ffbd8b0644f7a" /><Relationship Type="http://schemas.openxmlformats.org/officeDocument/2006/relationships/slide" Target="/ppt/slides/slide7.xml" Id="R7aa1df4182e34a4a" /><Relationship Type="http://schemas.openxmlformats.org/officeDocument/2006/relationships/slide" Target="/ppt/slides/slide8.xml" Id="R42122e3393314d75" /><Relationship Type="http://schemas.openxmlformats.org/officeDocument/2006/relationships/slide" Target="/ppt/slides/slide9.xml" Id="R37c17fd301d5497a" /><Relationship Type="http://schemas.openxmlformats.org/officeDocument/2006/relationships/slide" Target="/ppt/slides/slide10.xml" Id="R6fc1411efe2649e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446644d3a2f462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4738f1468a34db9" /><Relationship Type="http://schemas.openxmlformats.org/officeDocument/2006/relationships/notesMaster" Target="/ppt/notesMasters/notesMaster1.xml" Id="R94a7743621794cb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f542810b98745c0" /><Relationship Type="http://schemas.openxmlformats.org/officeDocument/2006/relationships/notesMaster" Target="/ppt/notesMasters/notesMaster1.xml" Id="R402c1d04916743a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518329b13704a0e" /><Relationship Type="http://schemas.openxmlformats.org/officeDocument/2006/relationships/notesMaster" Target="/ppt/notesMasters/notesMaster1.xml" Id="Rc3d6da9f45cf41c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fedb16d63b94b1b" /><Relationship Type="http://schemas.openxmlformats.org/officeDocument/2006/relationships/notesMaster" Target="/ppt/notesMasters/notesMaster1.xml" Id="Rd328d02c65a04c5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a5dfbec9d614b48" /><Relationship Type="http://schemas.openxmlformats.org/officeDocument/2006/relationships/notesMaster" Target="/ppt/notesMasters/notesMaster1.xml" Id="Rf96be18172fc486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5f9e9489b1d47df" /><Relationship Type="http://schemas.openxmlformats.org/officeDocument/2006/relationships/notesMaster" Target="/ppt/notesMasters/notesMaster1.xml" Id="Ra59514d86820416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e6b55bbf2d44aa0" /><Relationship Type="http://schemas.openxmlformats.org/officeDocument/2006/relationships/notesMaster" Target="/ppt/notesMasters/notesMaster1.xml" Id="Re25d4c6c31a547f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08ec784861441a2" /><Relationship Type="http://schemas.openxmlformats.org/officeDocument/2006/relationships/notesMaster" Target="/ppt/notesMasters/notesMaster1.xml" Id="Ra7e5c668767d4c4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5fc6ef934304906" /><Relationship Type="http://schemas.openxmlformats.org/officeDocument/2006/relationships/notesMaster" Target="/ppt/notesMasters/notesMaster1.xml" Id="R1eb8f51483e941a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cd4cf73134e4f88" /><Relationship Type="http://schemas.openxmlformats.org/officeDocument/2006/relationships/notesMaster" Target="/ppt/notesMasters/notesMaster1.xml" Id="R80fd9462580b4b2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내용 출처: 사용자 제공 자료와 2026년 10월 2일 참여 범위 정정. 미참여 분야는 제외. 약 70~90%는 사용자 관찰에 따른 인식 수준이며 mAP나 통계적 정확도로 해석하지 않음. 회고와 향후 계획은 추천 문안. 덴소 티칭 경험은 본 프로젝트 참여와 구분해 본 자료에서 제외. 디자인 참고: 사용자 첨부 이미지. 도식은 사용자 설명에 따른 개발 과정과 문제 해결 방법을 정리한 개념도. 프로젝트 사진은 사용자 제공 자료.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내용 출처: 사용자 제공 자료와 2026년 10월 2일 참여 범위 정정. 미참여 분야는 제외. 약 70~90%는 사용자 관찰에 따른 인식 수준이며 mAP나 통계적 정확도로 해석하지 않음. 회고와 향후 계획은 추천 문안. 덴소 티칭 경험은 본 프로젝트 참여와 구분해 본 자료에서 제외. 디자인 참고: 사용자 첨부 이미지. 도식은 사용자 설명에 따른 개발 과정과 문제 해결 방법을 정리한 개념도. 프로젝트 사진은 사용자 제공 자료.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내용 출처: 사용자 제공 자료와 2026년 10월 2일 참여 범위 정정. 미참여 분야는 제외. 약 70~90%는 사용자 관찰에 따른 인식 수준이며 mAP나 통계적 정확도로 해석하지 않음. 회고와 향후 계획은 추천 문안. 덴소 티칭 경험은 본 프로젝트 참여와 구분해 본 자료에서 제외. 디자인 참고: 사용자 첨부 이미지. 도식은 사용자 설명에 따른 개발 과정과 문제 해결 방법을 정리한 개념도. 프로젝트 사진은 사용자 제공 자료.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내용 출처: 사용자 제공 자료와 2026년 10월 2일 참여 범위 정정. 미참여 분야는 제외. 약 70~90%는 사용자 관찰에 따른 인식 수준이며 mAP나 통계적 정확도로 해석하지 않음. 회고와 향후 계획은 추천 문안. 덴소 티칭 경험은 본 프로젝트 참여와 구분해 본 자료에서 제외. 디자인 참고: 사용자 첨부 이미지. 도식은 사용자 설명에 따른 개발 과정과 문제 해결 방법을 정리한 개념도. 프로젝트 사진은 사용자 제공 자료.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내용 출처: 사용자 제공 자료와 2026년 10월 2일 참여 범위 정정. 미참여 분야는 제외. 약 70~90%는 사용자 관찰에 따른 인식 수준이며 mAP나 통계적 정확도로 해석하지 않음. 회고와 향후 계획은 추천 문안. 덴소 티칭 경험은 본 프로젝트 참여와 구분해 본 자료에서 제외. 디자인 참고: 사용자 첨부 이미지. 도식은 사용자 설명에 따른 개발 과정과 문제 해결 방법을 정리한 개념도. 프로젝트 사진은 사용자 제공 자료.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내용 출처: 사용자 제공 자료와 2026년 10월 2일 참여 범위 정정. 미참여 분야는 제외. 약 70~90%는 사용자 관찰에 따른 인식 수준이며 mAP나 통계적 정확도로 해석하지 않음. 회고와 향후 계획은 추천 문안. 덴소 티칭 경험은 본 프로젝트 참여와 구분해 본 자료에서 제외. 디자인 참고: 사용자 첨부 이미지. 도식은 사용자 설명에 따른 개발 과정과 문제 해결 방법을 정리한 개념도. 프로젝트 사진은 사용자 제공 자료.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내용 출처: 사용자 제공 자료와 2026년 10월 2일 참여 범위 정정. 미참여 분야는 제외. 약 70~90%는 사용자 관찰에 따른 인식 수준이며 mAP나 통계적 정확도로 해석하지 않음. 회고와 향후 계획은 추천 문안. 덴소 티칭 경험은 본 프로젝트 참여와 구분해 본 자료에서 제외. 디자인 참고: 사용자 첨부 이미지. 도식은 사용자 설명에 따른 개발 과정과 문제 해결 방법을 정리한 개념도. 프로젝트 사진은 사용자 제공 자료.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내용 출처: 사용자 제공 자료와 2026년 10월 2일 참여 범위 정정. 미참여 분야는 제외. 약 70~90%는 사용자 관찰에 따른 인식 수준이며 mAP나 통계적 정확도로 해석하지 않음. 회고와 향후 계획은 추천 문안. 덴소 티칭 경험은 본 프로젝트 참여와 구분해 본 자료에서 제외. 디자인 참고: 사용자 첨부 이미지. 도식은 사용자 설명에 따른 개발 과정과 문제 해결 방법을 정리한 개념도. 프로젝트 사진은 사용자 제공 자료.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내용 출처: 사용자 제공 자료와 2026년 10월 2일 참여 범위 정정. 미참여 분야는 제외. 약 70~90%는 사용자 관찰에 따른 인식 수준이며 mAP나 통계적 정확도로 해석하지 않음. 회고와 향후 계획은 추천 문안. 덴소 티칭 경험은 본 프로젝트 참여와 구분해 본 자료에서 제외. 디자인 참고: 사용자 첨부 이미지. 도식은 사용자 설명에 따른 개발 과정과 문제 해결 방법을 정리한 개념도. 프로젝트 사진은 사용자 제공 자료.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내용 출처: 사용자 제공 자료와 2026년 10월 2일 참여 범위 정정. 미참여 분야는 제외. 약 70~90%는 사용자 관찰에 따른 인식 수준이며 mAP나 통계적 정확도로 해석하지 않음. 회고와 향후 계획은 추천 문안. 덴소 티칭 경험은 본 프로젝트 참여와 구분해 본 자료에서 제외. 디자인 참고: 사용자 첨부 이미지. 도식은 사용자 설명에 따른 개발 과정과 문제 해결 방법을 정리한 개념도. 프로젝트 사진은 사용자 제공 자료.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7acca2095f458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a8df351b61408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ab9397d66547e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b60740ccba459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1a60f506c0495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b0e032abb0466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ED4F49C5-35DD-4982-AA02-CAA920962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39760D9-E903-4300-B0C5-87CCEE6878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8B2C3742-3538-453E-99AA-E04A1F84DD5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51C02338-B8B0-4B3A-BB34-3BE380BED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232527B-2CDE-42B3-A0E6-638297701D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480CDEC0-E6D1-4C5F-9F03-2CA5A101C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180828D-0FDE-419F-B803-5F7FB25764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FEF3F2AF-9DCB-4C47-BB43-63223C499F3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343D9D90-7525-4E49-850C-3D35F1B4B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AD3011C-B5E2-4982-9906-65E85550C83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7D50ACA-34F3-415D-9BA6-6F4800F1283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2F30FFB-3842-4B3D-9802-A336E972FBA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6580874B-5A52-4D9A-BF61-B2444B2B3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966468C-042C-4F9D-9D66-A6C3E1D836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F2A7128-0675-4BD1-9F52-6147A1CD80A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cb8146d7f394871" /><Relationship Type="http://schemas.openxmlformats.org/officeDocument/2006/relationships/slideLayout" Target="/ppt/slideLayouts/slideLayout1.xml" Id="Re1c1c3fda3b6401f" /><Relationship Type="http://schemas.openxmlformats.org/officeDocument/2006/relationships/slideLayout" Target="/ppt/slideLayouts/slideLayout2.xml" Id="R7569e19f18eb459c" /><Relationship Type="http://schemas.openxmlformats.org/officeDocument/2006/relationships/slideLayout" Target="/ppt/slideLayouts/slideLayout3.xml" Id="Rf13f08b5f5864822" /><Relationship Type="http://schemas.openxmlformats.org/officeDocument/2006/relationships/slideLayout" Target="/ppt/slideLayouts/slideLayout4.xml" Id="Rff5dacc3f5e24c53" /><Relationship Type="http://schemas.openxmlformats.org/officeDocument/2006/relationships/slideLayout" Target="/ppt/slideLayouts/slideLayout5.xml" Id="Rf3fb0fd68568403d" /><Relationship Type="http://schemas.openxmlformats.org/officeDocument/2006/relationships/slideLayout" Target="/ppt/slideLayouts/slideLayout6.xml" Id="R344880a33c1345b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1c1c3fda3b6401f"/>
    <p:sldLayoutId xmlns:r="http://schemas.openxmlformats.org/officeDocument/2006/relationships" id="2147483650" r:id="R7569e19f18eb459c"/>
    <p:sldLayoutId xmlns:r="http://schemas.openxmlformats.org/officeDocument/2006/relationships" id="2147483651" r:id="Rf13f08b5f5864822"/>
    <p:sldLayoutId xmlns:r="http://schemas.openxmlformats.org/officeDocument/2006/relationships" id="2147483652" r:id="Rff5dacc3f5e24c53"/>
    <p:sldLayoutId xmlns:r="http://schemas.openxmlformats.org/officeDocument/2006/relationships" id="2147483653" r:id="Rf3fb0fd68568403d"/>
    <p:sldLayoutId xmlns:r="http://schemas.openxmlformats.org/officeDocument/2006/relationships" id="2147483654" r:id="R344880a33c1345b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a5c611caf24d3d" /><Relationship Type="http://schemas.openxmlformats.org/officeDocument/2006/relationships/image" Target="/ppt/media/image.png" Id="Rb0685596f4024843" /><Relationship Type="http://schemas.openxmlformats.org/officeDocument/2006/relationships/notesSlide" Target="/ppt/notesSlides/notesSlide1.xml" Id="R44e04e077f23406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a650ad84614109" /><Relationship Type="http://schemas.openxmlformats.org/officeDocument/2006/relationships/notesSlide" Target="/ppt/notesSlides/notesSlide2.xml" Id="R3f63b94440004de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bfb3b4dbfb4305" /><Relationship Type="http://schemas.openxmlformats.org/officeDocument/2006/relationships/image" Target="/ppt/media/image2.png" Id="Rf53926e033d543b2" /><Relationship Type="http://schemas.openxmlformats.org/officeDocument/2006/relationships/notesSlide" Target="/ppt/notesSlides/notesSlide3.xml" Id="R6727c0d146f34c0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a387597f4b492e" /><Relationship Type="http://schemas.openxmlformats.org/officeDocument/2006/relationships/notesSlide" Target="/ppt/notesSlides/notesSlide4.xml" Id="R8715e0d83e944a5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d1ca7ed76240d5" /><Relationship Type="http://schemas.openxmlformats.org/officeDocument/2006/relationships/image" Target="/ppt/media/image3.png" Id="Rdb6667600696466c" /><Relationship Type="http://schemas.openxmlformats.org/officeDocument/2006/relationships/notesSlide" Target="/ppt/notesSlides/notesSlide5.xml" Id="R017876f6e4e846a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7c544e244a47ed" /><Relationship Type="http://schemas.openxmlformats.org/officeDocument/2006/relationships/notesSlide" Target="/ppt/notesSlides/notesSlide6.xml" Id="Re150d01d963d499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dcc0ef1c9b45a0" /><Relationship Type="http://schemas.openxmlformats.org/officeDocument/2006/relationships/image" Target="/ppt/media/image4.png" Id="Re763c351358e4f7e" /><Relationship Type="http://schemas.openxmlformats.org/officeDocument/2006/relationships/image" Target="/ppt/media/image5.png" Id="R69167101595e4378" /><Relationship Type="http://schemas.openxmlformats.org/officeDocument/2006/relationships/notesSlide" Target="/ppt/notesSlides/notesSlide7.xml" Id="R61a6ee6ee86c41c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847f2f949c4125" /><Relationship Type="http://schemas.openxmlformats.org/officeDocument/2006/relationships/image" Target="/ppt/media/image6.png" Id="R9792d99224a64c3c" /><Relationship Type="http://schemas.openxmlformats.org/officeDocument/2006/relationships/image" Target="/ppt/media/image7.png" Id="Rc556685f6d134226" /><Relationship Type="http://schemas.openxmlformats.org/officeDocument/2006/relationships/image" Target="/ppt/media/image8.png" Id="Rfe50cd7227ea46aa" /><Relationship Type="http://schemas.openxmlformats.org/officeDocument/2006/relationships/image" Target="/ppt/media/image9.png" Id="Rf29a06db4b4a4bdd" /><Relationship Type="http://schemas.openxmlformats.org/officeDocument/2006/relationships/notesSlide" Target="/ppt/notesSlides/notesSlide8.xml" Id="R3cf99acc54a843c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aaa7db1c564d11" /><Relationship Type="http://schemas.openxmlformats.org/officeDocument/2006/relationships/image" Target="/ppt/media/image10.png" Id="R37d91ee575be46c2" /><Relationship Type="http://schemas.openxmlformats.org/officeDocument/2006/relationships/image" Target="/ppt/media/image11.png" Id="R9a68a0f4f0b44dc3" /><Relationship Type="http://schemas.openxmlformats.org/officeDocument/2006/relationships/notesSlide" Target="/ppt/notesSlides/notesSlide9.xml" Id="Rc8490f69d06044d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b85f19430b4f24" /><Relationship Type="http://schemas.openxmlformats.org/officeDocument/2006/relationships/notesSlide" Target="/ppt/notesSlides/notesSlide10.xml" Id="R9b1fa7e57ab142f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E658D89-81D5-4B91-B408-DDB9F5FF8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0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30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차량 조립 스마트팩토리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604843-B0DE-4DE1-BA41-3D8427B7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820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7C7C7C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7C7C7C"/>
                </a:solidFill>
                <a:latin typeface="NanumGothic"/>
                <a:ea typeface="NanumGothic"/>
                <a:cs typeface="NanumGothic"/>
              </a:rPr>
              <a:t>간명욱 · 비전 검사 담당 및 부품 설계 참여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D37E11-188E-459C-958B-696949EA7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10820400" cy="4810125"/>
          </a:xfrm>
          <a:prstGeom xmlns:a="http://schemas.openxmlformats.org/drawingml/2006/main" prst="roundRect">
            <a:avLst>
              <a:gd name="adj" fmla="val 23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E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544F12-0143-43AF-AA9A-1ACCD088C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9715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본인 담당 및 참여 범위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D3CA71-F1B9-4A82-BC43-4CAD34B86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526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389A4F-AEC7-4EF0-AA4A-89E773757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76475"/>
            <a:ext cx="626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비전 검사 전 과정 담당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CB6411-A204-4445-93F9-372AC4EC2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71750"/>
            <a:ext cx="60293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이미지 촬영부터 데이터 증강·라벨링·모델 학습·Python 코드 구현까지 참여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2540A3-7F74-4063-9D56-57F21D7E5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337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C6561A-F8EF-4271-B6CD-33DBA586C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57550"/>
            <a:ext cx="626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SOLIDWORKS 설계와 3D 출력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0F69EF-DC8B-470B-972F-8F77B8942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552825"/>
            <a:ext cx="60293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차량 부품과 가이드 설계, 어셈블리 조립 확인 후 Bambu Lab A1 출력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7205CB-5B67-4897-B42E-9E101FE02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148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30D0C0-4936-445E-8BF5-7EF267DE4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38625"/>
            <a:ext cx="626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PLC 수정과 전장 작업 보조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27E587-91DB-4D08-A749-E41E162A0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60293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래더 실행 시 실린더·센서 동작 확인 및 수정 참여</a:t>
            </a:r>
          </a:p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담당자의 배선 지시에 따라 연결 작업과 모터 납땜 지원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685596f4024843"/>
          <a:stretch xmlns:a="http://schemas.openxmlformats.org/drawingml/2006/main"/>
        </p:blipFill>
        <p:spPr>
          <a:xfrm xmlns:a="http://schemas.openxmlformats.org/drawingml/2006/main">
            <a:off x="8020050" y="2495625"/>
            <a:ext cx="3276600" cy="1504799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E529BA-512D-463A-857F-45378AA5F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429125"/>
            <a:ext cx="327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26577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526577"/>
                </a:solidFill>
                <a:latin typeface="NanumGothic"/>
                <a:ea typeface="NanumGothic"/>
                <a:cs typeface="NanumGothic"/>
              </a:rPr>
              <a:t>프로젝트 비전 검사 구역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77F5BC-DA3A-41BE-B953-FB938A281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876800"/>
            <a:ext cx="32766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촬영 · 인식 · 검사 신호 연동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E08A96-2945-4155-AB78-4C9AD570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054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717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171717"/>
                </a:solidFill>
                <a:latin typeface="NanumGothic"/>
                <a:ea typeface="NanumGothic"/>
                <a:cs typeface="NanumGothic"/>
              </a:rPr>
              <a:t>사용 기술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7F217F-7D10-46E7-B61A-BCA48FB37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48350"/>
            <a:ext cx="11811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7F1FEC-E356-4AA6-91E3-481991B9A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886450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Python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BC56A7-1293-4F13-B447-07BCDFAA7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5848350"/>
            <a:ext cx="11811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A325FB-AA1D-421B-935E-80BBF712C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5886450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OpenCV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C8C2EC-832E-4C6F-AC48-19262316B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848350"/>
            <a:ext cx="131445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5B837C-8A51-4DF1-9205-0CD8EA9FC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886450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YOLO11n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4F5CBB-269A-4099-8107-04FA0C37E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848350"/>
            <a:ext cx="131445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649E35-26A1-4D4F-B248-5626622F9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5886450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PyTorch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29F37A-1DEC-4066-A584-CB56B55DF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848350"/>
            <a:ext cx="11811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7584CC-4602-4A2A-BE61-D00F1D66D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886450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OPC-UA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AEB86F-5AAF-4C73-B984-24500A576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5848350"/>
            <a:ext cx="17145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96885FA-0482-446F-9986-FF3B86EE0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5886450"/>
            <a:ext cx="1562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SOLIDWORKS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A13C937-3CD6-4E4A-86A3-4EC54C2F8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05575"/>
            <a:ext cx="33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99999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999999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675035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629F6B4-4942-4DF1-A03C-50E68ADB5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0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30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비전 검사 담당 범위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81F0C4-50AC-4F4D-B42A-68CB832D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820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7C7C7C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7C7C7C"/>
                </a:solidFill>
                <a:latin typeface="NanumGothic"/>
                <a:ea typeface="NanumGothic"/>
                <a:cs typeface="NanumGothic"/>
              </a:rPr>
              <a:t>촬영과 학습부터 검사 프로그램 및 설비 통신까지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397CF2-D4E4-4BE1-9982-0EF007E9A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10820400" cy="4810125"/>
          </a:xfrm>
          <a:prstGeom xmlns:a="http://schemas.openxmlformats.org/drawingml/2006/main" prst="roundRect">
            <a:avLst>
              <a:gd name="adj" fmla="val 23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E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144F2E-9FCA-4290-BE39-920DEA8D1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9715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직접 수행한 작업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CEB38B-E1EF-40B0-897E-52719EB45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526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85D4A5-8955-4116-B9A8-5770CF64A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76475"/>
            <a:ext cx="626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검사 대상 촬영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A2A0D0-ACE7-432E-AD78-E8EF5A76B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71750"/>
            <a:ext cx="60293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램프와 시트 등 객체의 실제 이미지를 수집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6E768D-6C4E-4FC5-AB8A-EC3C4F36C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337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5ABE0B-7F21-46EA-89F7-1F55F83B1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057525"/>
            <a:ext cx="626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학습 데이터 준비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00DF9D-FA75-4A98-8C41-AB5F68150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352800"/>
            <a:ext cx="60293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Roboflow와 AI를 활용한 데이터 증강 및 객체 라벨링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7EFDE4-4A0B-4F32-9F1C-B8CA79605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147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8F5B09-586E-42D6-A6AB-129494A68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838575"/>
            <a:ext cx="626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딥러닝과 검사 코드 구현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779510-2892-4D20-95E9-FDB629CC8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133850"/>
            <a:ext cx="60293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PyTorch 기반 YOLO11n 학습과 Python 실시간 검사 프로그램 구성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D5D267-9C1D-4A23-8378-E1C3ACFA7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958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30C7F0-F35A-4BD6-9ED8-A586FC0C0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619625"/>
            <a:ext cx="626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설비 통신과 카메라 연결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BE5672-BFB0-4569-83ED-580E05694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14900"/>
            <a:ext cx="60293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OPC-UA 검사 신호 연동 및 Instance ID 기반 카메라 식별 적용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AA2425-FFEC-482F-B2F3-0FCEAE34F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057400"/>
            <a:ext cx="3276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비전 개발 과정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48992F-9885-4AC0-8CE0-C97D8802F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28875"/>
            <a:ext cx="32766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9525">
            <a:solidFill>
              <a:srgbClr val="C7D8DE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4DCDBC-D824-4E75-9689-7FA03940F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53365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D91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67D91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8CBDCC-F312-4017-B1A7-16F34D539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05075"/>
            <a:ext cx="2628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이미지 촬영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7D9ECB-71F4-4A95-A381-E1ED67C7D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52725"/>
            <a:ext cx="2628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577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526577"/>
                </a:solidFill>
                <a:latin typeface="NanumGothic"/>
                <a:ea typeface="NanumGothic"/>
                <a:cs typeface="NanumGothic"/>
              </a:rPr>
              <a:t>실제 검사 대상 수집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BAD3BA-2FE4-4595-A42D-2219A8C8E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019425"/>
            <a:ext cx="19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B0E434-8A35-4B67-A8C7-DD7D3E080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52775"/>
            <a:ext cx="32766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9525">
            <a:solidFill>
              <a:srgbClr val="C7D8DE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846F95-5798-44BE-B0F9-443841E86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25755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D91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67D91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A98906-AD4B-4333-8257-3707F6DCA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28975"/>
            <a:ext cx="2628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데이터 준비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062828-D1A4-425E-9924-A72883A45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76625"/>
            <a:ext cx="2628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577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526577"/>
                </a:solidFill>
                <a:latin typeface="NanumGothic"/>
                <a:ea typeface="NanumGothic"/>
                <a:cs typeface="NanumGothic"/>
              </a:rPr>
              <a:t>증강 및 객체 라벨링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46C72D-2079-4AFA-8B39-1C237C152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743325"/>
            <a:ext cx="19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DA84096-81A6-4817-969E-588121E91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76675"/>
            <a:ext cx="32766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9525">
            <a:solidFill>
              <a:srgbClr val="C7D8DE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750D2C3-9C61-4BA7-A4A3-818C2EF2E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98145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D91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67D91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E9E50D8-E191-4ADE-9943-F1F560AFF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52875"/>
            <a:ext cx="2628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학습과 실시간 검사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3528860-E449-4F76-A891-F6876A8EF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00525"/>
            <a:ext cx="2628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577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526577"/>
                </a:solidFill>
                <a:latin typeface="NanumGothic"/>
                <a:ea typeface="NanumGothic"/>
                <a:cs typeface="NanumGothic"/>
              </a:rPr>
              <a:t>YOLO11n · Python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BB9C62-BF27-43A9-8E6B-FA0069FE3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467225"/>
            <a:ext cx="19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100D332-3B5B-434A-B5A2-C310E5B17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600575"/>
            <a:ext cx="32766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9525">
            <a:solidFill>
              <a:srgbClr val="C7D8DE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849C00D-152F-4519-A1C0-363117DD9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70535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D91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67D91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06D2DA1-667C-4543-A896-61D486894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76775"/>
            <a:ext cx="2628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설비 신호 교환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F16A84-5BDD-49E2-8FEF-CB2321DEA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24425"/>
            <a:ext cx="2628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577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526577"/>
                </a:solidFill>
                <a:latin typeface="NanumGothic"/>
                <a:ea typeface="NanumGothic"/>
                <a:cs typeface="NanumGothic"/>
              </a:rPr>
              <a:t>OPC-UA로 PLC와 연동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9AE6549-743D-4C7C-964F-003C87AD9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054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717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171717"/>
                </a:solidFill>
                <a:latin typeface="NanumGothic"/>
                <a:ea typeface="NanumGothic"/>
                <a:cs typeface="NanumGothic"/>
              </a:rPr>
              <a:t>사용 기술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031BB5B-9E34-421A-9E62-F6AE3105C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48350"/>
            <a:ext cx="14478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CA742F6-25FF-4747-938A-1D96C5DF2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886450"/>
            <a:ext cx="1295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Roboflow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FFF77B6-7912-4E12-A353-4785A3C4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848350"/>
            <a:ext cx="131445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C0A627D-33E3-479B-A681-C4A6C3A3E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5886450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PyTorch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78EFBB2-A0C8-4977-9BFF-2BFF2A363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48350"/>
            <a:ext cx="11811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2E8ABBA-A99A-4676-99EB-BF03B222E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5886450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Python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A2D7FFD-78B8-4532-A220-81003F4E0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5848350"/>
            <a:ext cx="11811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F76E0FD-A01E-4268-928F-DF857D0BC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5886450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OpenCV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3B86238-9CAB-4E7B-ADCE-2B9CB65D7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848350"/>
            <a:ext cx="11811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C010A79-BEEC-48E3-A774-0512359E6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886450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OPC-UA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DF20817-49AA-4F34-82C1-EB6214E87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05575"/>
            <a:ext cx="33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99999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999999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75657173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D8A6F67-9823-4EAB-A648-78E3D51E7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0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30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촬영과 학습 데이터 준비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AF95D1-B7FC-4657-A313-020FB463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820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7C7C7C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7C7C7C"/>
                </a:solidFill>
                <a:latin typeface="NanumGothic"/>
                <a:ea typeface="NanumGothic"/>
                <a:cs typeface="NanumGothic"/>
              </a:rPr>
              <a:t>처음 접한 비전 작업의 순서를 자료와 조언을 통해 익힘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3B2B9A-B32A-4FC5-A76A-09B7DEEC2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10820400" cy="4810125"/>
          </a:xfrm>
          <a:prstGeom xmlns:a="http://schemas.openxmlformats.org/drawingml/2006/main" prst="roundRect">
            <a:avLst>
              <a:gd name="adj" fmla="val 23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E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EEBEEA-B000-4DC6-AECE-D3460B37D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9715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작업 과정과 어려움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2DF66E-913B-4F01-9EFB-21E3DC8C6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526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6B6979-70C7-4F31-9E25-550DA09A2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76475"/>
            <a:ext cx="626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촬영부터 라벨링까지 진행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AD3F96-ABC2-4FB6-90CE-C12F90E6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71750"/>
            <a:ext cx="60293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학습에 필요한 이미지를 촬영하고 객체 영역 지정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E9713F-E228-4832-A1AB-C626A9C66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337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34FBAC-9E8F-4742-9A62-5BBA4DEBC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057525"/>
            <a:ext cx="626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다각형 라벨링의 시간 부담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35C1D8-9A72-4821-A9BD-BC132D2AF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352800"/>
            <a:ext cx="60293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객체 형태를 따라 점을 하나씩 지정하는 작업에 많은 시간 소요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A9D3AF-8F03-4989-B984-6063A0D38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147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C2514F-DD77-4B94-B3C0-D115C6DA4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838575"/>
            <a:ext cx="626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다른 역할과의 작업 병행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A66C5C-2633-419A-8E92-DAA9D361F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133850"/>
            <a:ext cx="60293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모델링과 현장 보조를 함께 수행하며 라벨링 물량 확보에 제약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7CF968-3951-4FFB-813F-6A3240877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958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FD9EC7-E783-4510-B9FE-CFB32C91C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619625"/>
            <a:ext cx="626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데이터 증강으로 촬영 조건 확장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30B578-CEA0-48D0-BDF8-A7A382498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14900"/>
            <a:ext cx="60293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Roboflow와 AI를 활용하여 방향 등 다양한 조건의 학습 이미지 준비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3926e033d543b2"/>
          <a:stretch xmlns:a="http://schemas.openxmlformats.org/drawingml/2006/main"/>
        </p:blipFill>
        <p:spPr>
          <a:xfrm xmlns:a="http://schemas.openxmlformats.org/drawingml/2006/main">
            <a:off x="8088997" y="2524125"/>
            <a:ext cx="3186332" cy="20955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01FD77-9B00-4930-948C-1F3907B15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4686300"/>
            <a:ext cx="34956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585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57585"/>
                </a:solidFill>
                <a:latin typeface="NanumGothic"/>
                <a:ea typeface="NanumGothic"/>
                <a:cs typeface="NanumGothic"/>
              </a:rPr>
              <a:t>객체 라벨링 작업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7E750D-0079-4C15-A172-4A9614908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054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717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171717"/>
                </a:solidFill>
                <a:latin typeface="NanumGothic"/>
                <a:ea typeface="NanumGothic"/>
                <a:cs typeface="NanumGothic"/>
              </a:rPr>
              <a:t>사용 기술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150B8A-4B8D-4B9D-90B5-EEC263663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48350"/>
            <a:ext cx="11811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F5D30A-3989-4749-9A7B-662DE438E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886450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이미지 촬영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BC25BA-158C-43A7-A7EA-9EB6F6A67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5848350"/>
            <a:ext cx="14478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C25A0C-D66C-4EF0-9603-BC2B0A2DA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5886450"/>
            <a:ext cx="1295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Roboflow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E6CFC5-988B-4D97-8AA0-0D20520F8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848350"/>
            <a:ext cx="11811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A16ED1-FCF3-443A-ACE3-B6D96B62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5886450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데이터 증강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4C6B22-BEF1-4DEB-9695-3151BA9F7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5848350"/>
            <a:ext cx="11811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A99FE3-8713-4452-9ABF-9878071B9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86450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객체 라벨링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2235D5-1F47-40F0-A975-B0B38B2F4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05575"/>
            <a:ext cx="33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99999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999999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6441423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35D9728-F832-42BB-A351-81036D8AE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0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30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딥러닝 학습과 인식 개선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A7C983-34D7-4731-AD8F-344C530B2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820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7C7C7C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7C7C7C"/>
                </a:solidFill>
                <a:latin typeface="NanumGothic"/>
                <a:ea typeface="NanumGothic"/>
                <a:cs typeface="NanumGothic"/>
              </a:rPr>
              <a:t>객체 인식이 불안정한 상황에서 데이터를 보완하며 반복 학습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CADF9F-ECD4-4CA3-A813-E72F0ED6B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10820400" cy="4810125"/>
          </a:xfrm>
          <a:prstGeom xmlns:a="http://schemas.openxmlformats.org/drawingml/2006/main" prst="roundRect">
            <a:avLst>
              <a:gd name="adj" fmla="val 23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E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2FEA08-8CC7-445C-8690-0E72D5FD6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9715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문제 해결 과정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A43871-AD7F-4C3D-A38D-A5FEE4C6B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526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B35B6E-9FF9-45D7-9A70-33F6A4E55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76475"/>
            <a:ext cx="626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초기 객체 인식의 어려움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A71663-FAC4-4EBF-995C-2D0D276ED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71750"/>
            <a:ext cx="60293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프로그램 구성과 딥러닝 절차가 생소해 자료 조사와 조언을 병행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5B878F-99C4-41F9-90C3-B6EF3D71D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337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718DDB-BC85-4BE6-8687-690958A31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57550"/>
            <a:ext cx="626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학습 조건 보완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59B28E-39BF-4795-9320-C057CB883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552825"/>
            <a:ext cx="60293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여러 방향의 데이터 증강과 딥러닝 학습을 반복하며 인식 상태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847707-4B58-4D15-B814-E818BF4C9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148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25FE3E-C87A-4D7E-A6CF-E1409B1F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38625"/>
            <a:ext cx="626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프로젝트 중 확인한 인식 수준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AEAB0F-42AB-47B6-82DB-E52CA9A61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60293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관찰 기준 약 70~90%의 인식 수준 확인</a:t>
            </a:r>
          </a:p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정식 정확도 지표와 평가 조건은 추가 정리 필요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064E99-A81D-496F-8C51-B4BBDB80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057400"/>
            <a:ext cx="3276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인식 개선 과정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B01F20-7B64-4EDB-96CB-534C7C829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28875"/>
            <a:ext cx="32766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9525">
            <a:solidFill>
              <a:srgbClr val="C7D8DE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668E83-D5C4-4410-91CD-53019BF3E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53365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D91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67D91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8D74BA-5879-4158-ADC9-F1D4D212E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05075"/>
            <a:ext cx="2628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실시간 테스트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3EAC56-2F1B-4555-9312-F9F1F24A9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52725"/>
            <a:ext cx="2628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577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526577"/>
                </a:solidFill>
                <a:latin typeface="NanumGothic"/>
                <a:ea typeface="NanumGothic"/>
                <a:cs typeface="NanumGothic"/>
              </a:rPr>
              <a:t>객체 인식 상태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611888-DB3B-4B30-AD6E-0B0975A20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019425"/>
            <a:ext cx="19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C55401-9122-4E9A-8B42-8337BDD16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52775"/>
            <a:ext cx="32766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9525">
            <a:solidFill>
              <a:srgbClr val="C7D8DE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26036C-DE65-467C-B5E4-63EAAF295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25755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D91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67D91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3B99AC-E0DB-4690-96B3-6B582CC89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28975"/>
            <a:ext cx="2628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학습 데이터 보완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CA86C41-D06E-494C-8DD8-6BB3795EC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76625"/>
            <a:ext cx="2628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577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526577"/>
                </a:solidFill>
                <a:latin typeface="NanumGothic"/>
                <a:ea typeface="NanumGothic"/>
                <a:cs typeface="NanumGothic"/>
              </a:rPr>
              <a:t>촬영 방향과 증강 조건 조정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73D2C8-4303-4E6F-893C-6CA3F7FE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743325"/>
            <a:ext cx="19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26E671-C35F-4743-ADAC-677B46065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76675"/>
            <a:ext cx="32766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9525">
            <a:solidFill>
              <a:srgbClr val="C7D8DE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022367-3C86-4B2A-8402-6545D0A42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98145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D91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67D91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76CF91-3BED-4C94-8D0C-B85295EFF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52875"/>
            <a:ext cx="2628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모델 재학습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AEE3565-AAF6-46DF-B586-BF311BC32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00525"/>
            <a:ext cx="2628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577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526577"/>
                </a:solidFill>
                <a:latin typeface="NanumGothic"/>
                <a:ea typeface="NanumGothic"/>
                <a:cs typeface="NanumGothic"/>
              </a:rPr>
              <a:t>보완한 데이터로 반복 학습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ABA2FA9-D0F6-452E-AD09-B96162CD7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467225"/>
            <a:ext cx="19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9415237-8DC4-4A3D-A557-91B68F85A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600575"/>
            <a:ext cx="32766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9525">
            <a:solidFill>
              <a:srgbClr val="C7D8DE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DE17FF0-89D6-40CB-BD0C-4108E3D67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70535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D91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67D91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6E76875-6F60-4725-A339-754BE9180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76775"/>
            <a:ext cx="2628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검사 결과 확인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E03CD15-0A19-4C3F-8E06-F3B14AC21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24425"/>
            <a:ext cx="2628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577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526577"/>
                </a:solidFill>
                <a:latin typeface="NanumGothic"/>
                <a:ea typeface="NanumGothic"/>
                <a:cs typeface="NanumGothic"/>
              </a:rPr>
              <a:t>오인식 조건을 다시 점검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B505816-ADF5-41A3-B008-AD8A2D55C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054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717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171717"/>
                </a:solidFill>
                <a:latin typeface="NanumGothic"/>
                <a:ea typeface="NanumGothic"/>
                <a:cs typeface="NanumGothic"/>
              </a:rPr>
              <a:t>사용 기술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0035A9F-1EB2-4542-B6F4-AD1617D69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48350"/>
            <a:ext cx="131445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93EF354-AB1C-4409-A792-873FBD388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886450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YOLO11n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DE07E44-438D-4B40-AF8F-EDDE76EE5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848350"/>
            <a:ext cx="131445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081FE56-4FB6-49B0-B484-8F215AB5E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5886450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PyTorch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7B6C99F-2D80-457B-ADCC-3B04C262A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848350"/>
            <a:ext cx="11811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BD99E7C-88FE-4D24-AD08-2B1BF8D0E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5886450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데이터 증강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15127A7-9629-4E33-A3FA-59CB55AF6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5848350"/>
            <a:ext cx="131445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4F6FD0E-2839-46A3-AF09-AE53D8389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86450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실시간 테스트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1408E57-F03F-4299-B72E-AD619FED3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05575"/>
            <a:ext cx="33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99999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999999"/>
                </a:solidFill>
                <a:latin typeface="NanumGothic"/>
                <a:ea typeface="NanumGothic"/>
                <a:cs typeface="NanumGothic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12080689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35A23C-7041-430A-9B9D-6F37DE4A8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0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30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시트 검사 방식 개선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BC2676-DCE4-4E55-BC65-F8D2267C3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820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7C7C7C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7C7C7C"/>
                </a:solidFill>
                <a:latin typeface="NanumGothic"/>
                <a:ea typeface="NanumGothic"/>
                <a:cs typeface="NanumGothic"/>
              </a:rPr>
              <a:t>검사 목적을 다시 살펴 색상 기반 제품 유무 검사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63E7D3-80CC-4C06-A66F-F789C2910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10820400" cy="4810125"/>
          </a:xfrm>
          <a:prstGeom xmlns:a="http://schemas.openxmlformats.org/drawingml/2006/main" prst="roundRect">
            <a:avLst>
              <a:gd name="adj" fmla="val 23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E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860AC0-379D-4333-A30F-D8A58A90D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9715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문제와 해결 방법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AA5A9D-9390-45B3-8F78-6694D9971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526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DECB09-5CFA-48F8-A040-C10E98A6A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76475"/>
            <a:ext cx="626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근접 객체의 인식 혼동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08FED6-A897-42BE-8B59-50A889CB2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71750"/>
            <a:ext cx="60293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가까이 놓인 두 시트를 제대로 구분하지 못하는 문제 발생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54C169-9BD6-4A04-BA4B-BBAA95F9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337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3332D0-A3E9-4A83-8309-A738D281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57550"/>
            <a:ext cx="626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검사영역 분리 후 재검토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FADD9D-2768-4C8E-9806-EC76E870A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552825"/>
            <a:ext cx="60293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시트별 영역을 나누었지만 혼동이 반복되어 검사 목적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0B587C-E2F9-403B-9F5D-726C93140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148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5163CA-DCED-4181-ADD6-E11D5472F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38625"/>
            <a:ext cx="626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OpenCV 색상 검출 적용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DCC37D-B1A2-4A3F-8AEA-8E5763A47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60293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시트별 ROI에서 색상 픽셀 비율을 활용해 제품 유무 확인</a:t>
            </a:r>
          </a:p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램프는 기존 인식 로직을 유지</a:t>
            </a:r>
          </a:p>
        </p:txBody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6667600696466c"/>
          <a:stretch xmlns:a="http://schemas.openxmlformats.org/drawingml/2006/main"/>
        </p:blipFill>
        <p:spPr>
          <a:xfrm xmlns:a="http://schemas.openxmlformats.org/drawingml/2006/main">
            <a:off x="7934325" y="2756387"/>
            <a:ext cx="3495675" cy="1630976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570A02-0B28-48C5-9F0D-92F5D1DDF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4686300"/>
            <a:ext cx="34956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585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57585"/>
                </a:solidFill>
                <a:latin typeface="NanumGothic"/>
                <a:ea typeface="NanumGothic"/>
                <a:cs typeface="NanumGothic"/>
              </a:rPr>
              <a:t>시트 색상 검사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705E55-858A-43F6-A063-EDD4D7DF0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054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717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171717"/>
                </a:solidFill>
                <a:latin typeface="NanumGothic"/>
                <a:ea typeface="NanumGothic"/>
                <a:cs typeface="NanumGothic"/>
              </a:rPr>
              <a:t>사용 기술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BA4AA3-62F3-4924-862F-81E274D76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48350"/>
            <a:ext cx="11811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9CC1A4-A1DC-4357-81A5-F3D3D3D1E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886450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OpenCV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B4D332-FC3F-4B39-9723-03A155BF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5848350"/>
            <a:ext cx="78105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660BE5-8BCE-461C-9234-219D79DB2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588645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ROI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1EC177-09BD-46F0-9126-25B38F6A2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5848350"/>
            <a:ext cx="14478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7EA5B3-8CDB-4126-B9B4-FED30DEF0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886450"/>
            <a:ext cx="1295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색상 픽셀 비율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C2A625-695A-40A5-B5A9-228EE4FD9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5848350"/>
            <a:ext cx="14478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7A1AB5-1DA3-40D1-AC76-3F1D0EE92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5886450"/>
            <a:ext cx="1295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제품 유무 검사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41A926-57D0-4A99-83B0-36356C827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05575"/>
            <a:ext cx="33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99999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999999"/>
                </a:solidFill>
                <a:latin typeface="NanumGothic"/>
                <a:ea typeface="NanumGothic"/>
                <a:cs typeface="NanumGothic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72773631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E617727-5D07-460E-8AB5-EB11FB802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0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30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카메라 식별과 연결 문제 해결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DCF433-9E8A-4AB1-AD16-E86AC6388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820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7C7C7C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7C7C7C"/>
                </a:solidFill>
                <a:latin typeface="NanumGothic"/>
                <a:ea typeface="NanumGothic"/>
                <a:cs typeface="NanumGothic"/>
              </a:rPr>
              <a:t>연결 시 카메라 번호가 달라지는 문제를 Instance ID로 대응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93B1C4-79DA-4561-9A96-C03B307C8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10820400" cy="4810125"/>
          </a:xfrm>
          <a:prstGeom xmlns:a="http://schemas.openxmlformats.org/drawingml/2006/main" prst="roundRect">
            <a:avLst>
              <a:gd name="adj" fmla="val 23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E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D094C0-B8DC-449F-906B-E58C01172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9715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문제 해결 과정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20EF47-DC6D-4C16-885D-F0649AED9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526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FDEDA6-4066-473E-B9CE-3C21EF352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76475"/>
            <a:ext cx="626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카메라 번호 변경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ED33C1-4E5F-4177-BA4E-5F4A1B233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71750"/>
            <a:ext cx="60293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비전카메라 연결 시 번호가 바뀌어 검사 대상과 영상의 대응이 달라짐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782A11-E894-4190-9976-34012CC7A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337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A82DA1-9506-4C4F-923E-73BCA471C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57550"/>
            <a:ext cx="626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장치 식별 방식 적용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836CA8-02C9-45D5-8BA6-2410A43B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552825"/>
            <a:ext cx="60293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단순 번호 대신 카메라 Instance ID를 기준으로 장치 식별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23DF15-2A34-45DC-AD41-3B06D848D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148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461130-E74C-4BEF-9ECE-9855547B2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38625"/>
            <a:ext cx="626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검사 카메라 매칭 성공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BE42AF-DF49-4224-AC20-F03887471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60293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대상 카메라를 식별해 검사 화면에 연결하는 방식 적용 성공</a:t>
            </a:r>
          </a:p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재연결·재부팅 조건별 반복 검증은 보완 계획에 포함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0F6AA3-D7E9-4E96-B8B8-AB5D6BDA3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057400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카메라 연결 방식 비교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BC0866-1A9F-481D-9F9E-3955D7058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24125"/>
            <a:ext cx="32766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577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526577"/>
                </a:solidFill>
                <a:latin typeface="NanumGothic"/>
                <a:ea typeface="NanumGothic"/>
                <a:cs typeface="NanumGothic"/>
              </a:rPr>
              <a:t>번호로 연결할 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4D84F2-E339-480C-847D-EF41E0062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905125"/>
            <a:ext cx="32766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9525">
            <a:solidFill>
              <a:srgbClr val="C7D8DE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2D207D-41C8-403A-8900-974E9A57C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0099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D91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67D91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EFE582-65C9-4C74-BB11-919A5927C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981325"/>
            <a:ext cx="2628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카메라 번호 변경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C0C395-2E74-47B6-9586-973B3661A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28975"/>
            <a:ext cx="2628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577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526577"/>
                </a:solidFill>
                <a:latin typeface="NanumGothic"/>
                <a:ea typeface="NanumGothic"/>
                <a:cs typeface="NanumGothic"/>
              </a:rPr>
              <a:t>연결 대상이 달라지는 문제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C25256-A2B7-488E-96FD-AC155EA83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00475"/>
            <a:ext cx="32766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D91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67D91"/>
                </a:solidFill>
                <a:latin typeface="NanumGothic"/>
                <a:ea typeface="NanumGothic"/>
                <a:cs typeface="NanumGothic"/>
              </a:rPr>
              <a:t>Instance ID 적용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4AF344-820E-43B2-94D9-73B1DC479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171950"/>
            <a:ext cx="32766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9525">
            <a:solidFill>
              <a:srgbClr val="C7D8DE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F9B9C6-9061-4C2A-BEF0-990343F5E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2767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D91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67D91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58A2E7-EB22-4946-B684-44044ADB5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48150"/>
            <a:ext cx="2628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장치 식별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332715-1F1E-4B1B-8F2B-FD26C9737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495800"/>
            <a:ext cx="2628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577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526577"/>
                </a:solidFill>
                <a:latin typeface="NanumGothic"/>
                <a:ea typeface="NanumGothic"/>
                <a:cs typeface="NanumGothic"/>
              </a:rPr>
              <a:t>Instance ID로 대상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7ED0DBE-C904-41D7-A802-56626ACE5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895850"/>
            <a:ext cx="32766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9525">
            <a:solidFill>
              <a:srgbClr val="C7D8DE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563178-097C-47A8-9A2B-3A04A5C1F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000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D91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67D91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572292-931B-4170-ACF3-0173A52DA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72050"/>
            <a:ext cx="2628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검사 화면 매칭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C88C06-3026-4FB1-9EEC-F22BD7B64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19700"/>
            <a:ext cx="2628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577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526577"/>
                </a:solidFill>
                <a:latin typeface="NanumGothic"/>
                <a:ea typeface="NanumGothic"/>
                <a:cs typeface="NanumGothic"/>
              </a:rPr>
              <a:t>식별한 카메라를 화면에 연결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AC2D5B-967B-4C0D-8959-07643CE21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762500"/>
            <a:ext cx="19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FFA156-AEFD-457D-AB1C-8212DF7CA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054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717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171717"/>
                </a:solidFill>
                <a:latin typeface="NanumGothic"/>
                <a:ea typeface="NanumGothic"/>
                <a:cs typeface="NanumGothic"/>
              </a:rPr>
              <a:t>사용 기술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B4FC34E-3A72-4B37-BA4E-0A3973162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48350"/>
            <a:ext cx="184785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0A3680A-0ECC-4522-A2FB-02025687D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886450"/>
            <a:ext cx="1695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Instance ID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9DD97EE-AB24-4F5F-B1D6-8CE1B9EA0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5848350"/>
            <a:ext cx="11811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989F8DB-3DC5-40CD-9FFF-4C7D43F45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5886450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카메라 매칭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CA8F84C-36FC-4FEC-AA34-C4B3F4F1C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848350"/>
            <a:ext cx="11811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6FE968A-4697-4CD7-BE60-B409C4389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886450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Python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C039C6F-826D-42FC-AF75-D1F5A500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05575"/>
            <a:ext cx="33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99999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999999"/>
                </a:solidFill>
                <a:latin typeface="NanumGothic"/>
                <a:ea typeface="NanumGothic"/>
                <a:cs typeface="NanumGothi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8402369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3F172D3-F3B9-4E88-B779-9A5E8A933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0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30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검사 프로그램과 OPC-UA 연동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DF8DE5-B67C-4E24-9F84-075CC8830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820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7C7C7C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7C7C7C"/>
                </a:solidFill>
                <a:latin typeface="NanumGothic"/>
                <a:ea typeface="NanumGothic"/>
                <a:cs typeface="NanumGothic"/>
              </a:rPr>
              <a:t>비전 결과를 PLC와 공유하고 다른 담당자와 연결 상태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E4DA21-7F09-4275-930B-DF2F58D36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10820400" cy="4810125"/>
          </a:xfrm>
          <a:prstGeom xmlns:a="http://schemas.openxmlformats.org/drawingml/2006/main" prst="roundRect">
            <a:avLst>
              <a:gd name="adj" fmla="val 23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E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021490-39D8-4B78-9F6F-DEA800F85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9715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본인 구현과 협업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20393F-4AFD-4C67-8DFE-249AEFDCA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526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06980F-BF6F-4008-A333-8C008FB5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76475"/>
            <a:ext cx="626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검사 프로그램 구현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775BDA-1671-4040-9747-805CEE4B4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71750"/>
            <a:ext cx="60293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Python으로 실시간 검사 및 결과 표시 기능 구성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510E1D-AD1D-4A01-87AB-F94842598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337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0A5271-53AE-4A9F-AA51-600E190EF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57550"/>
            <a:ext cx="626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PLC 검사 신호 교환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9F4E0D-F44A-4BDF-89B0-037F6ECF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552825"/>
            <a:ext cx="60293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OPC-UA로 검사 시작 신호 수신 및 완료·판정 결과 전달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E7B4B3-8861-49A8-976F-06979931F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148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4EA379-FB75-4A5E-BF12-BF40D72BC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38625"/>
            <a:ext cx="626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담당자 간 연결 정보 공유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1570B2-14D1-4801-86C0-C39AB99DF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60293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비전·로봇·PLC 연결을 확인하는 과정에서 SCADA 담당자와 정보 공유</a:t>
            </a:r>
          </a:p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태그와 신호 의미, 전달 순서를 협의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63c351358e4f7e"/>
          <a:stretch xmlns:a="http://schemas.openxmlformats.org/drawingml/2006/main"/>
        </p:blipFill>
        <p:spPr>
          <a:xfrm xmlns:a="http://schemas.openxmlformats.org/drawingml/2006/main">
            <a:off x="8457524" y="2133600"/>
            <a:ext cx="2439751" cy="1200150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2A978C-69CD-49F9-AD13-F6D903FAB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400425"/>
            <a:ext cx="32575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585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57585"/>
                </a:solidFill>
                <a:latin typeface="NanumGothic"/>
                <a:ea typeface="NanumGothic"/>
                <a:cs typeface="NanumGothic"/>
              </a:rPr>
              <a:t>검사 코드 일부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167101595e4378"/>
          <a:stretch xmlns:a="http://schemas.openxmlformats.org/drawingml/2006/main"/>
        </p:blipFill>
        <p:spPr>
          <a:xfrm xmlns:a="http://schemas.openxmlformats.org/drawingml/2006/main">
            <a:off x="8647362" y="3629025"/>
            <a:ext cx="2060075" cy="12001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2ACD89-BB08-4235-98D5-F0D0E55C1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95850"/>
            <a:ext cx="32575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585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57585"/>
                </a:solidFill>
                <a:latin typeface="NanumGothic"/>
                <a:ea typeface="NanumGothic"/>
                <a:cs typeface="NanumGothic"/>
              </a:rPr>
              <a:t>OPC-UA 태그 구성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8AF99F-11D6-443F-8F99-290C4F2B6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286375"/>
            <a:ext cx="914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9525">
            <a:solidFill>
              <a:srgbClr val="C7D8DE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845E6F-69C2-495E-B006-3B45AB3F1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353050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PLC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F0CA38-447A-49C7-BE4B-81D89429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5314950"/>
            <a:ext cx="257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67D91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67D91"/>
                </a:solidFill>
                <a:latin typeface="NanumGothic"/>
                <a:ea typeface="NanumGothic"/>
                <a:cs typeface="NanumGothic"/>
              </a:rPr>
              <a:t>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805373-8E56-47ED-8D54-D1FEF723F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286375"/>
            <a:ext cx="914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9525">
            <a:solidFill>
              <a:srgbClr val="C7D8DE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E65C2E-7ED5-45CD-A7EE-A5F928371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5353050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KepServer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18631A-3F8D-4784-9C4F-B733376C3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5314950"/>
            <a:ext cx="257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67D91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167D91"/>
                </a:solidFill>
                <a:latin typeface="NanumGothic"/>
                <a:ea typeface="NanumGothic"/>
                <a:cs typeface="NanumGothic"/>
              </a:rPr>
              <a:t>↔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314775-4EBB-4586-845D-510B648D7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5286375"/>
            <a:ext cx="914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9525">
            <a:solidFill>
              <a:srgbClr val="C7D8DE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CDE756-F4A0-4312-AAE2-30471183B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5353050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비전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57E36A-FAF5-4EC7-96A0-8A948FB5A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667375"/>
            <a:ext cx="3314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265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526577"/>
                </a:solidFill>
                <a:latin typeface="NanumGothic"/>
                <a:ea typeface="NanumGothic"/>
                <a:cs typeface="NanumGothic"/>
              </a:rPr>
              <a:t>검사 시작 수신 / 완료·판정 결과 반환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38864B-DA24-48F2-A3CE-8D1967B6D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054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717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171717"/>
                </a:solidFill>
                <a:latin typeface="NanumGothic"/>
                <a:ea typeface="NanumGothic"/>
                <a:cs typeface="NanumGothic"/>
              </a:rPr>
              <a:t>사용 기술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A659C71-6EA9-437D-A472-F0D2E2324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48350"/>
            <a:ext cx="11811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644FE0-DF87-4326-A688-FD79248AA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886450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Python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785481-F053-43E9-88E7-B204AA279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5848350"/>
            <a:ext cx="11811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36659ED-ADC6-4E10-B8D0-94FCCAC80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5886450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OPC-UA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A07E7E-FE73-4C79-9475-7C108080B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848350"/>
            <a:ext cx="158115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7B7EF0C-1295-427F-8132-567D5AE4F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8864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KepServer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C0D9E4F-7915-4D07-8D19-37BFD5E4C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5848350"/>
            <a:ext cx="11811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582495B-B3A6-4609-92D3-7A9D3F475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5886450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PLC 신호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EFE1DBE-4D44-4992-B6D1-6C0361D2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05575"/>
            <a:ext cx="33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99999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999999"/>
                </a:solidFill>
                <a:latin typeface="NanumGothic"/>
                <a:ea typeface="NanumGothic"/>
                <a:cs typeface="NanumGothi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93815734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717F010-3DC2-48D3-9E60-D1EC9D26F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0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30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부품과 가이드 설계 및 출력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171627-583C-436B-8B9E-BBAA5C790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820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7C7C7C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7C7C7C"/>
                </a:solidFill>
                <a:latin typeface="NanumGothic"/>
                <a:ea typeface="NanumGothic"/>
                <a:cs typeface="NanumGothic"/>
              </a:rPr>
              <a:t>본인 수행 · SOLIDWORKS 설계부터 Bambu Lab A1 출력까지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58B21A-6372-43E3-9F88-8E259F66F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10820400" cy="4810125"/>
          </a:xfrm>
          <a:prstGeom xmlns:a="http://schemas.openxmlformats.org/drawingml/2006/main" prst="roundRect">
            <a:avLst>
              <a:gd name="adj" fmla="val 23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E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61059E-532E-40AB-A044-89CD39C63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9715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직접 수행한 작업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5CC8B6-5993-4C44-8449-5749FF215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526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3609AE-D7E4-461F-95BD-B8D477401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76475"/>
            <a:ext cx="626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차량 부품과 가이드 설계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419F26-5DAC-447F-9BD8-30E9A3B46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71750"/>
            <a:ext cx="60293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램프·시트·차량 상부와 하부, 공정용 가이드 모델링 및 도면 설계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E28346-9E39-4986-827F-C041C0E12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337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CD3A84-BED7-46D7-87F5-007702B5A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57550"/>
            <a:ext cx="626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어셈블리 조립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5878F1-CD39-49B9-9E45-B7C4B0FAA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552825"/>
            <a:ext cx="60293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부품을 조립해 결합 관계와 조립 상태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A60D6F-FEBB-4941-8F24-9A698E7E6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148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8B257A-88DA-45C8-BE0D-3582735F1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38625"/>
            <a:ext cx="626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3D 프린터 출력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D172AA-A8E5-48E9-90A3-B83DBD21D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60293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설계 부품을 Bambu Lab A1으로 출력하여 제작 과정 수행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92d99224a64c3c"/>
          <a:stretch xmlns:a="http://schemas.openxmlformats.org/drawingml/2006/main"/>
        </p:blipFill>
        <p:spPr>
          <a:xfrm xmlns:a="http://schemas.openxmlformats.org/drawingml/2006/main">
            <a:off x="7972425" y="2401352"/>
            <a:ext cx="1619250" cy="769422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6C91C3-474D-4BCC-81E5-ED8B2D2D1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438525"/>
            <a:ext cx="1619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585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57585"/>
                </a:solidFill>
                <a:latin typeface="NanumGothic"/>
                <a:ea typeface="NanumGothic"/>
                <a:cs typeface="NanumGothic"/>
              </a:rPr>
              <a:t>램프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56685f6d134226"/>
          <a:stretch xmlns:a="http://schemas.openxmlformats.org/drawingml/2006/main"/>
        </p:blipFill>
        <p:spPr>
          <a:xfrm xmlns:a="http://schemas.openxmlformats.org/drawingml/2006/main">
            <a:off x="9696450" y="2425551"/>
            <a:ext cx="1619250" cy="721022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587541-C050-4EAD-8CA7-808A62A53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438525"/>
            <a:ext cx="1619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585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57585"/>
                </a:solidFill>
                <a:latin typeface="NanumGothic"/>
                <a:ea typeface="NanumGothic"/>
                <a:cs typeface="NanumGothic"/>
              </a:rPr>
              <a:t>시트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50cd7227ea46aa"/>
          <a:stretch xmlns:a="http://schemas.openxmlformats.org/drawingml/2006/main"/>
        </p:blipFill>
        <p:spPr>
          <a:xfrm xmlns:a="http://schemas.openxmlformats.org/drawingml/2006/main">
            <a:off x="7972425" y="3852046"/>
            <a:ext cx="1619250" cy="820783"/>
          </a:xfrm>
          <a:prstGeom xmlns:a="http://schemas.openxmlformats.org/drawingml/2006/main" prst="rect">
            <a:avLst/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219DB0-C7A0-4D41-AAD1-6B9ED24AE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4914900"/>
            <a:ext cx="1619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585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57585"/>
                </a:solidFill>
                <a:latin typeface="NanumGothic"/>
                <a:ea typeface="NanumGothic"/>
                <a:cs typeface="NanumGothic"/>
              </a:rPr>
              <a:t>차량 하부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9a06db4b4a4bdd"/>
          <a:stretch xmlns:a="http://schemas.openxmlformats.org/drawingml/2006/main"/>
        </p:blipFill>
        <p:spPr>
          <a:xfrm xmlns:a="http://schemas.openxmlformats.org/drawingml/2006/main">
            <a:off x="9696450" y="3871561"/>
            <a:ext cx="1619250" cy="781753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160A33-FBFB-470C-89E7-D9C12621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914900"/>
            <a:ext cx="1619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585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57585"/>
                </a:solidFill>
                <a:latin typeface="NanumGothic"/>
                <a:ea typeface="NanumGothic"/>
                <a:cs typeface="NanumGothic"/>
              </a:rPr>
              <a:t>차량 상부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F990A9-6B04-45C3-8B5A-D19A6B07C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054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717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171717"/>
                </a:solidFill>
                <a:latin typeface="NanumGothic"/>
                <a:ea typeface="NanumGothic"/>
                <a:cs typeface="NanumGothic"/>
              </a:rPr>
              <a:t>사용 기술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FB0291-72C1-4BD9-9FE3-39FC36CFD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48350"/>
            <a:ext cx="17145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01FBE8-5538-4734-B71D-96220C13B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886450"/>
            <a:ext cx="1562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SOLIDWORKS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02F4F8-E847-48BC-9383-C13C3EA6F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5848350"/>
            <a:ext cx="104775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35209F9-5529-4A79-84C0-FBA2F728B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5886450"/>
            <a:ext cx="89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도면 설계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64039B-621C-42A1-ABDD-900663A2F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48350"/>
            <a:ext cx="9144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8826A9-49ED-4442-852E-3B34BB5B2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58864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어셈블리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E13B796-2AB3-481C-859B-1D70E823B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848350"/>
            <a:ext cx="19812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49A1A2F-3C18-4489-96EF-A554A879E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5886450"/>
            <a:ext cx="1828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Bambu Lab A1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6FA01BE-98C8-47F8-B065-5C1675810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05575"/>
            <a:ext cx="33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99999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999999"/>
                </a:solidFill>
                <a:latin typeface="NanumGothic"/>
                <a:ea typeface="NanumGothic"/>
                <a:cs typeface="NanumGothi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4251073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BBE7A4A-6A8E-41E7-B5C3-439FA95C1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0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30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PLC 수정 참여와 전장 보조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3AD499-98F4-4CA0-B2C2-5912F1985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820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7C7C7C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7C7C7C"/>
                </a:solidFill>
                <a:latin typeface="NanumGothic"/>
                <a:ea typeface="NanumGothic"/>
                <a:cs typeface="NanumGothic"/>
              </a:rPr>
              <a:t>본인이 실제로 수행한 현장 작업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0994CD-8051-44BD-8523-A4548CF0C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10820400" cy="4810125"/>
          </a:xfrm>
          <a:prstGeom xmlns:a="http://schemas.openxmlformats.org/drawingml/2006/main" prst="roundRect">
            <a:avLst>
              <a:gd name="adj" fmla="val 23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E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07B5F2-3856-458F-BEFF-4BCBC118F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9715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참여 내용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826ED9-F5B6-4C06-9574-99D5904EC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526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F6FF08-2A39-4CA1-9338-F6B12DF09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76475"/>
            <a:ext cx="626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래더 동작과 실제 설비 확인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621168-A6D4-4E1F-B52B-06D496134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71750"/>
            <a:ext cx="60293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PLC 래더를 실행하며 실린더 움직임과 센서 반응 확인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609476-6076-46E5-9912-0ABE89A1D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337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CB7843-D01E-4D9E-BFC1-9328F93B0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57550"/>
            <a:ext cx="626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래더 수정 참여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35C1EA-5485-4351-920D-6A4E05FE4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552825"/>
            <a:ext cx="60293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확인한 설비 동작을 바탕으로 PLC 프로그램 수정 과정 참여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19CF7B-1BB5-4BE4-BD80-7320949C6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148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8A1E7E-5A60-4A07-957E-827D5100B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38625"/>
            <a:ext cx="626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배선 연결과 모터 납땜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E85A27-D8CA-4DD8-9791-FAE22A63F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60293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전장 담당자의 배선 지시에 맞추어 연결 작업 및 모터 납땜 지원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d91ee575be46c2"/>
          <a:stretch xmlns:a="http://schemas.openxmlformats.org/drawingml/2006/main"/>
        </p:blipFill>
        <p:spPr>
          <a:xfrm xmlns:a="http://schemas.openxmlformats.org/drawingml/2006/main">
            <a:off x="9128243" y="2133600"/>
            <a:ext cx="1098313" cy="1200150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C7F66A-B1A1-4FE5-9EF2-BE5926998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400425"/>
            <a:ext cx="32575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585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57585"/>
                </a:solidFill>
                <a:latin typeface="NanumGothic"/>
                <a:ea typeface="NanumGothic"/>
                <a:cs typeface="NanumGothic"/>
              </a:rPr>
              <a:t>PLC 래더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68a0f4f0b44dc3"/>
          <a:stretch xmlns:a="http://schemas.openxmlformats.org/drawingml/2006/main"/>
        </p:blipFill>
        <p:spPr>
          <a:xfrm xmlns:a="http://schemas.openxmlformats.org/drawingml/2006/main">
            <a:off x="8388812" y="3629025"/>
            <a:ext cx="2577176" cy="12001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7FA04D-6E01-4F56-B9B3-523AC8999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95850"/>
            <a:ext cx="32575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585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57585"/>
                </a:solidFill>
                <a:latin typeface="NanumGothic"/>
                <a:ea typeface="NanumGothic"/>
                <a:cs typeface="NanumGothic"/>
              </a:rPr>
              <a:t>I/O 리스트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DC6C51-9D51-4005-9CE5-DFD23280E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054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717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171717"/>
                </a:solidFill>
                <a:latin typeface="NanumGothic"/>
                <a:ea typeface="NanumGothic"/>
                <a:cs typeface="NanumGothic"/>
              </a:rPr>
              <a:t>사용 기술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DE076D-394F-4C55-BB26-1CC6C092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48350"/>
            <a:ext cx="11811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84A346-DE24-4F25-8E16-89451B4F7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886450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PLC 래더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68BD3B-35C8-4F70-A7A1-6F5CE81D1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5848350"/>
            <a:ext cx="78105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D02829-FFC8-4369-970E-462DA3E4E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588645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실린더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C7C703-9EA7-4F18-A8A3-4B4D95EF3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5848350"/>
            <a:ext cx="6477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4D2219-5750-4F60-8782-DE3B8B847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8864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센서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0A6F4D-EB79-4F97-B807-C4D418594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848350"/>
            <a:ext cx="104775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9F3E13-183F-4C7B-B03E-BBB1C7B8D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5886450"/>
            <a:ext cx="89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배선 연결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0612E7D-F695-46F0-BFF7-3D9D9EDF9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848350"/>
            <a:ext cx="6477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695CB3C-8E76-4349-AAE9-B871783C5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58864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납땜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DDC9DB8-BD58-4A67-94CA-08AAA8196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05575"/>
            <a:ext cx="33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99999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999999"/>
                </a:solidFill>
                <a:latin typeface="NanumGothic"/>
                <a:ea typeface="NanumGothic"/>
                <a:cs typeface="NanumGothic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40663002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DAE157D-68C0-4EA4-BF97-FE6894026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0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30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앞으로의 학습과 실습 계획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E082A0-57CB-4BB1-ABAD-D51FCB05A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820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7C7C7C"/>
                </a:solidFill>
                <a:latin typeface="NanumGothic"/>
                <a:ea typeface="NanumGothic"/>
                <a:cs typeface="NanumGothic"/>
              </a:defRPr>
            </a:pPr>
            <a:r>
              <a:rPr sz="1350" b="0">
                <a:solidFill>
                  <a:srgbClr val="7C7C7C"/>
                </a:solidFill>
                <a:latin typeface="NanumGothic"/>
                <a:ea typeface="NanumGothic"/>
                <a:cs typeface="NanumGothic"/>
              </a:rPr>
              <a:t>한 번에 작은 실험을 완성하고 기록하는 방식으로 보완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09BA6E-AE7D-4050-81A7-EF7A3FDB7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10820400" cy="4810125"/>
          </a:xfrm>
          <a:prstGeom xmlns:a="http://schemas.openxmlformats.org/drawingml/2006/main" prst="roundRect">
            <a:avLst>
              <a:gd name="adj" fmla="val 23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E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5F2689-79CA-4712-B557-E2C09C90F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9715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72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실행 계획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85DF38-79E3-46B1-BE8C-CA1AE62B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526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331937-61B6-4E10-A0BD-3E21DC76F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76475"/>
            <a:ext cx="626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기초 단계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89C544-EA08-4DA0-AD83-5CDDD63A8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71750"/>
            <a:ext cx="60293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대표 이미지 20~30장으로 촬영부터 라벨링·학습·추론까지 다시 완성</a:t>
            </a:r>
          </a:p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각 단계의 입력 파일과 결과, 설정값을 정리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514D32-24DD-4BAB-B02F-0F3E1B748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337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C431A3-B384-4638-A864-E51C867A5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57550"/>
            <a:ext cx="626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검증 단계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A31836-0FFE-4859-BE01-9AAE3213D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552825"/>
            <a:ext cx="60293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별도 실제 촬영 이미지로 조건별 100회 검사와 오류 유형 기록</a:t>
            </a:r>
          </a:p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카메라 번호 변경 및 재연결 상황에서 대상 매칭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76CE85-3379-44B2-9AC8-45DF7020B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148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43B1F4-9762-4244-B522-A411AECD5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38625"/>
            <a:ext cx="626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57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설비 연동 단계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4DABCB-C9B3-4F41-879C-941FBC8BA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60293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시작·완료·오류·리셋 조건을 문서로 정리하고 PLC 동작과 비교</a:t>
            </a:r>
          </a:p>
          <a:p xmlns:a="http://schemas.openxmlformats.org/drawingml/2006/main">
            <a:pPr algn="l">
              <a:def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0">
                <a:solidFill>
                  <a:srgbClr val="435261"/>
                </a:solidFill>
                <a:latin typeface="NanumGothic"/>
                <a:ea typeface="NanumGothic"/>
                <a:cs typeface="NanumGothic"/>
              </a:rPr>
              <a:t>래더 읽기와 센서·실린더 동작 확인 실습 지속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A072DC-CF1C-46D9-B2EB-77EAA1B04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057400"/>
            <a:ext cx="3276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향후 실습 순서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B2C22A-B2B9-40E0-829C-7B46249D5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28875"/>
            <a:ext cx="32766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9525">
            <a:solidFill>
              <a:srgbClr val="C7D8DE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CB9D27-96C6-4077-A1D8-C6C4DEB2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53365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D91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67D91"/>
                </a:solidFill>
                <a:latin typeface="NanumGothic"/>
                <a:ea typeface="NanumGothic"/>
                <a:cs typeface="NanumGothic"/>
              </a:rPr>
              <a:t>01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B4F3A4-5603-490C-A20C-CC218F300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05075"/>
            <a:ext cx="2628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작은 데이터로 완성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0EE648-C32E-414A-A66C-E3BE5B199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52725"/>
            <a:ext cx="2628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577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526577"/>
                </a:solidFill>
                <a:latin typeface="NanumGothic"/>
                <a:ea typeface="NanumGothic"/>
                <a:cs typeface="NanumGothic"/>
              </a:rPr>
              <a:t>촬영부터 추론까지 직접 반복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882243-F970-4F06-B9EF-CA6143D70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019425"/>
            <a:ext cx="19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FA0F42-19EE-428D-8779-5937EE6EB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52775"/>
            <a:ext cx="32766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9525">
            <a:solidFill>
              <a:srgbClr val="C7D8DE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6DF480-A79E-4811-AABD-25991B1D1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25755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D91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67D91"/>
                </a:solidFill>
                <a:latin typeface="NanumGothic"/>
                <a:ea typeface="NanumGothic"/>
                <a:cs typeface="NanumGothic"/>
              </a:rPr>
              <a:t>02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846C03-AB2A-402F-975F-10C28654E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28975"/>
            <a:ext cx="2628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조건별 검증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2FDF64-2B73-4192-9559-8C21D0D8B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76625"/>
            <a:ext cx="2628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577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526577"/>
                </a:solidFill>
                <a:latin typeface="NanumGothic"/>
                <a:ea typeface="NanumGothic"/>
                <a:cs typeface="NanumGothic"/>
              </a:rPr>
              <a:t>오인식과 재연결 상황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8FC29D-4B5A-4F7B-8550-BE1C282E8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743325"/>
            <a:ext cx="19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91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385B88-3B3B-49C2-A847-50703676B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76675"/>
            <a:ext cx="32766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7"/>
          </a:solidFill>
          <a:ln xmlns:a="http://schemas.openxmlformats.org/drawingml/2006/main" w="9525">
            <a:solidFill>
              <a:srgbClr val="C7D8DE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65B6F2-7A60-4671-A81E-3B2D109B2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98145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D91"/>
                </a:solidFill>
                <a:latin typeface="NanumGothic"/>
                <a:ea typeface="NanumGothic"/>
                <a:cs typeface="NanumGothic"/>
              </a:defRPr>
            </a:pPr>
            <a:r>
              <a:rPr sz="1500" b="1">
                <a:solidFill>
                  <a:srgbClr val="167D91"/>
                </a:solidFill>
                <a:latin typeface="NanumGothic"/>
                <a:ea typeface="NanumGothic"/>
                <a:cs typeface="NanumGothic"/>
              </a:rPr>
              <a:t>03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D46A97-2428-4F7E-8758-FFA0F8DD6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52875"/>
            <a:ext cx="2628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12283F"/>
                </a:solidFill>
                <a:latin typeface="NanumGothic"/>
                <a:ea typeface="NanumGothic"/>
                <a:cs typeface="NanumGothic"/>
              </a:rPr>
              <a:t>PLC 연동 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6AC226-B315-4E17-9AC1-1D78BD295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00525"/>
            <a:ext cx="2628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577"/>
                </a:solidFill>
                <a:latin typeface="NanumGothic"/>
                <a:ea typeface="NanumGothic"/>
                <a:cs typeface="NanumGothic"/>
              </a:defRPr>
            </a:pPr>
            <a:r>
              <a:rPr sz="1125" b="0">
                <a:solidFill>
                  <a:srgbClr val="526577"/>
                </a:solidFill>
                <a:latin typeface="NanumGothic"/>
                <a:ea typeface="NanumGothic"/>
                <a:cs typeface="NanumGothic"/>
              </a:rPr>
              <a:t>신호 순서와 실제 동작 비교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84F5C5-2154-456D-AD86-342EC9A12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054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717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171717"/>
                </a:solidFill>
                <a:latin typeface="NanumGothic"/>
                <a:ea typeface="NanumGothic"/>
                <a:cs typeface="NanumGothic"/>
              </a:rPr>
              <a:t>보완 항목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8EE3A43-9D0D-4EE9-BCB7-38C35ABD8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48350"/>
            <a:ext cx="158115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B5A65CC-76C8-4A94-A3A7-2C75678E9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8864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Python 학습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AC5CD06-5FEA-45D4-9176-0FDBACF83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848350"/>
            <a:ext cx="11811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662F132-AF23-4116-AE0C-2B3F4DC3B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5886450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데이터 검증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762DACB-EAB8-407E-A192-6411BF930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48350"/>
            <a:ext cx="11811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AB91489-99A0-4C2F-A0C7-C3C4DE7F3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5886450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카메라 매칭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2C8590E-2F91-48DC-8B05-BB5EF1E78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5848350"/>
            <a:ext cx="11811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DD9A47F-2734-4B6E-B05A-1F6DBC75F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5886450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263E54"/>
                </a:solidFill>
                <a:latin typeface="NanumGothic"/>
                <a:ea typeface="NanumGothic"/>
                <a:cs typeface="NanumGothic"/>
              </a:rPr>
              <a:t>PLC 기초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AE19561-107B-4B81-9C30-F18FC215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05575"/>
            <a:ext cx="33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99999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999999"/>
                </a:solidFill>
                <a:latin typeface="NanumGothic"/>
                <a:ea typeface="NanumGothic"/>
                <a:cs typeface="NanumGothi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9948410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2026-10-02T07:20:34.7080000Z</dcterms:created>
  <dcterms:modified xsi:type="dcterms:W3CDTF">2026-10-02T07:20:34.7080000Z</dcterms:modified>
</coreProperties>
</file>